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entered all three FinEval tasks: Greek financial named entity recognition, Japanese implicit communication recognition, and multilingual financial question answering. ADML ranked first in Greek, joint first in Japanese, and second in question answering.</a:t>
            </a:r>
          </a:p>
          <a:p/>
          <a:p>
            <a:r>
              <a:t>This FinNLP presentation accompanies our question answering poster. It covers the agentic research workflow, the models we tried across all three tasks, and the systems we submitted. Our results were strong, but the final systems were much simpler than those we had spent the competition developing.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agentic research loop started with the data and the scoring code. Reproduce a baseline, inspect failures, propose a hypothesis, implement an experiment, and decide whether to keep the change. We recorded negative results alongside improvements.</a:t>
            </a:r>
          </a:p>
          <a:p/>
          <a:p>
            <a:r>
              <a:t>Validation reflected the task: related entity surfaces for Greek, held out sources for Japanese, and held out companies or reporting periods for question answering. We tracked the average score, which examples were corrected, which were harmed, and whether improvements carried over to another source or period.</a:t>
            </a:r>
          </a:p>
          <a:p/>
          <a:p>
            <a:r>
              <a:t>The archived repository contains two hundred and nine scripts, thirty two source modules, ninety nine test files, and twenty five preregistration documents.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Greek entities, we explored Greek BERT, legal encoders, X L M R, and G liner proposals, with separate numeric processing and conservative span repairs. For Japanese intent, we investigated BERT ensembles, RoBERTa, Modern BERT, and a nine billion parameter Nemotron model, alongside domain adaptation and ordinal decoding.</a:t>
            </a:r>
          </a:p>
          <a:p/>
          <a:p>
            <a:r>
              <a:t>For question answering, trials included an Eva four billion parameter adapter, Qwen answer generators, and larger fact planners. The structured approach tracked periods, units, arithmetic, and evidence before considering small answer edits.</a:t>
            </a:r>
          </a:p>
          <a:p/>
          <a:p>
            <a:r>
              <a:t>We rejected many candidates after validation. Modern BERT made every Japanese validation fold worse. A Qwen fact filter improved average fact set F one, but harmed one issuer beyond our allowed threshold. Conservative Greek span consensus corrected four validation examples without introducing a new error. We had inspected that validation set repeatedly, so these gains still needed confirmation on fresh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answering experiment illustrates the central difficulty. On one hundred and ninety two historical examples, the grounded baseline scored about point three six five in ROUGE one. An oracle, allowed to see the reference answer and choose the best sparse edit, reached about point four zero three.</a:t>
            </a:r>
          </a:p>
          <a:p/>
          <a:p>
            <a:r>
              <a:t>Our nested company held out selector chose to make no edits, retaining the baseline. In a separate temporal transfer test, all four changed answers became worse. The oracle showed that useful edits existed. Choosing them for a new company or reporting period remained the problem, and keeping the baseline was the best decision from validation.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data audit changed our competition strategy. Every Greek test query, and all seventy six question answering queries, matched earlier public inputs. The organizers allowed external data, so we retrieved the matching public reference answers for those two tasks. For Japanese intent, we used deterministic rules based on explicit commitment and refusal cues.</a:t>
            </a:r>
          </a:p>
          <a:p/>
          <a:p>
            <a:r>
              <a:t>The final runner used no neural model. Question answering scored almost one on the public portion and point three seven three on the private portion, placing second. The gap suggests that the reference answers changed between versions. We could not check this directly because the private reference answers were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disappointment was that the final benchmark gave us little opportunity to test the models we had developed for new inputs. We submitted retrieval for Greek and question answering, and a semantic rubric for Japanese. The hidden test therefore left the broader model work unresolved.</a:t>
            </a:r>
          </a:p>
          <a:p/>
          <a:p>
            <a:r>
              <a:t>For future tasks, we would keep three practices: check the data and reference versions, test on new sources and periods, and keep a record of failed experiments. Agents helped us build and test candidates, and the validation results guided what we kept.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5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6515100"/>
            <a:ext cx="2811353" cy="207168"/>
          </a:xfrm>
          <a:prstGeom prst="rect">
            <a:avLst/>
          </a:prstGeom>
          <a:noFill/>
        </p:spPr>
        <p:txBody>
          <a:bodyPr wrap="none" lIns="0" tIns="0" rIns="0" bIns="0">
            <a:spAutoFit/>
          </a:bodyPr>
          <a:lstStyle/>
          <a:p>
            <a:pPr>
              <a:defRPr sz="1125" b="0">
                <a:solidFill>
                  <a:srgbClr val="B6CFD6"/>
                </a:solidFill>
                <a:latin typeface="DejaVu Sans"/>
              </a:defRPr>
            </a:pPr>
            <a:r>
              <a:t>ADML   ·   FinNLP 2026   ·   FinNLP-65</a:t>
            </a:r>
          </a:p>
        </p:txBody>
      </p:sp>
      <p:sp>
        <p:nvSpPr>
          <p:cNvPr id="4" name="TextBox 3"/>
          <p:cNvSpPr txBox="1"/>
          <p:nvPr/>
        </p:nvSpPr>
        <p:spPr>
          <a:xfrm>
            <a:off x="11029950" y="6515100"/>
            <a:ext cx="654973" cy="207168"/>
          </a:xfrm>
          <a:prstGeom prst="rect">
            <a:avLst/>
          </a:prstGeom>
          <a:noFill/>
        </p:spPr>
        <p:txBody>
          <a:bodyPr wrap="none" lIns="0" tIns="0" rIns="0" bIns="0">
            <a:spAutoFit/>
          </a:bodyPr>
          <a:lstStyle/>
          <a:p>
            <a:pPr>
              <a:defRPr sz="1125" b="0">
                <a:solidFill>
                  <a:srgbClr val="B6CFD6"/>
                </a:solidFill>
                <a:latin typeface="DejaVu Sans"/>
              </a:defRPr>
            </a:pPr>
            <a:r>
              <a:t>01 / 06</a:t>
            </a:r>
          </a:p>
        </p:txBody>
      </p:sp>
      <p:sp>
        <p:nvSpPr>
          <p:cNvPr id="5" name="TextBox 4"/>
          <p:cNvSpPr txBox="1"/>
          <p:nvPr/>
        </p:nvSpPr>
        <p:spPr>
          <a:xfrm>
            <a:off x="514350" y="342900"/>
            <a:ext cx="5503012" cy="248602"/>
          </a:xfrm>
          <a:prstGeom prst="rect">
            <a:avLst/>
          </a:prstGeom>
          <a:noFill/>
        </p:spPr>
        <p:txBody>
          <a:bodyPr wrap="none" lIns="0" tIns="0" rIns="0" bIns="0">
            <a:spAutoFit/>
          </a:bodyPr>
          <a:lstStyle/>
          <a:p>
            <a:pPr>
              <a:defRPr sz="1350" b="1">
                <a:solidFill>
                  <a:srgbClr val="70D9CD"/>
                </a:solidFill>
                <a:latin typeface="DejaVu Sans"/>
              </a:defRPr>
            </a:pPr>
            <a:r>
              <a:t>ACCEPTED PAPER · FinNLP-65 · POSTER PRESENTATION</a:t>
            </a:r>
          </a:p>
        </p:txBody>
      </p:sp>
      <p:sp>
        <p:nvSpPr>
          <p:cNvPr id="6" name="TextBox 5"/>
          <p:cNvSpPr txBox="1"/>
          <p:nvPr/>
        </p:nvSpPr>
        <p:spPr>
          <a:xfrm>
            <a:off x="514350" y="866775"/>
            <a:ext cx="5838192" cy="552450"/>
          </a:xfrm>
          <a:prstGeom prst="rect">
            <a:avLst/>
          </a:prstGeom>
          <a:noFill/>
        </p:spPr>
        <p:txBody>
          <a:bodyPr wrap="none" lIns="0" tIns="0" rIns="0" bIns="0">
            <a:spAutoFit/>
          </a:bodyPr>
          <a:lstStyle/>
          <a:p>
            <a:pPr>
              <a:defRPr sz="3000" b="1">
                <a:solidFill>
                  <a:srgbClr val="FFFFFF"/>
                </a:solidFill>
                <a:latin typeface="DejaVu Sans"/>
              </a:defRPr>
            </a:pPr>
            <a:r>
              <a:t>ADML at the FinEval 2026:</a:t>
            </a:r>
          </a:p>
        </p:txBody>
      </p:sp>
      <p:sp>
        <p:nvSpPr>
          <p:cNvPr id="7" name="TextBox 6"/>
          <p:cNvSpPr txBox="1"/>
          <p:nvPr/>
        </p:nvSpPr>
        <p:spPr>
          <a:xfrm>
            <a:off x="514350" y="1390650"/>
            <a:ext cx="9156371" cy="497204"/>
          </a:xfrm>
          <a:prstGeom prst="rect">
            <a:avLst/>
          </a:prstGeom>
          <a:noFill/>
        </p:spPr>
        <p:txBody>
          <a:bodyPr wrap="none" lIns="0" tIns="0" rIns="0" bIns="0">
            <a:spAutoFit/>
          </a:bodyPr>
          <a:lstStyle/>
          <a:p>
            <a:pPr>
              <a:defRPr sz="2700" b="1">
                <a:solidFill>
                  <a:srgbClr val="FFFFFF"/>
                </a:solidFill>
                <a:latin typeface="DejaVu Sans"/>
              </a:defRPr>
            </a:pPr>
            <a:r>
              <a:t>Version-Aware Retrieval and Grounded Sparse</a:t>
            </a:r>
          </a:p>
        </p:txBody>
      </p:sp>
      <p:sp>
        <p:nvSpPr>
          <p:cNvPr id="8" name="TextBox 7"/>
          <p:cNvSpPr txBox="1"/>
          <p:nvPr/>
        </p:nvSpPr>
        <p:spPr>
          <a:xfrm>
            <a:off x="514350" y="1847850"/>
            <a:ext cx="7152047" cy="497204"/>
          </a:xfrm>
          <a:prstGeom prst="rect">
            <a:avLst/>
          </a:prstGeom>
          <a:noFill/>
        </p:spPr>
        <p:txBody>
          <a:bodyPr wrap="none" lIns="0" tIns="0" rIns="0" bIns="0">
            <a:spAutoFit/>
          </a:bodyPr>
          <a:lstStyle/>
          <a:p>
            <a:pPr>
              <a:defRPr sz="2700" b="1">
                <a:solidFill>
                  <a:srgbClr val="FFFFFF"/>
                </a:solidFill>
                <a:latin typeface="DejaVu Sans"/>
              </a:defRPr>
            </a:pPr>
            <a:r>
              <a:t>Editing for Multilingual Financial QA</a:t>
            </a:r>
          </a:p>
        </p:txBody>
      </p:sp>
      <p:sp>
        <p:nvSpPr>
          <p:cNvPr id="9" name="TextBox 8"/>
          <p:cNvSpPr txBox="1"/>
          <p:nvPr/>
        </p:nvSpPr>
        <p:spPr>
          <a:xfrm>
            <a:off x="514350" y="2552700"/>
            <a:ext cx="6745932" cy="386715"/>
          </a:xfrm>
          <a:prstGeom prst="rect">
            <a:avLst/>
          </a:prstGeom>
          <a:noFill/>
        </p:spPr>
        <p:txBody>
          <a:bodyPr wrap="none" lIns="0" tIns="0" rIns="0" bIns="0">
            <a:spAutoFit/>
          </a:bodyPr>
          <a:lstStyle/>
          <a:p>
            <a:pPr>
              <a:defRPr sz="2100" b="0">
                <a:solidFill>
                  <a:srgbClr val="A4E5DB"/>
                </a:solidFill>
                <a:latin typeface="DejaVu Sans"/>
              </a:defRPr>
            </a:pPr>
            <a:r>
              <a:t>Agentic research across three financial NLP tasks</a:t>
            </a:r>
          </a:p>
        </p:txBody>
      </p:sp>
      <p:sp>
        <p:nvSpPr>
          <p:cNvPr id="10" name="TextBox 9"/>
          <p:cNvSpPr txBox="1"/>
          <p:nvPr/>
        </p:nvSpPr>
        <p:spPr>
          <a:xfrm>
            <a:off x="514350" y="3133725"/>
            <a:ext cx="4423534" cy="345281"/>
          </a:xfrm>
          <a:prstGeom prst="rect">
            <a:avLst/>
          </a:prstGeom>
          <a:noFill/>
        </p:spPr>
        <p:txBody>
          <a:bodyPr wrap="none" lIns="0" tIns="0" rIns="0" bIns="0">
            <a:spAutoFit/>
          </a:bodyPr>
          <a:lstStyle/>
          <a:p>
            <a:pPr>
              <a:defRPr sz="1875" b="0">
                <a:solidFill>
                  <a:srgbClr val="FFFFFF"/>
                </a:solidFill>
                <a:latin typeface="DejaVu Sans"/>
              </a:defRPr>
            </a:pPr>
            <a:r>
              <a:t>Gautier Marti¹  ·  Khaled AlNuaimi¹ ²</a:t>
            </a:r>
          </a:p>
        </p:txBody>
      </p:sp>
      <p:sp>
        <p:nvSpPr>
          <p:cNvPr id="11" name="TextBox 10"/>
          <p:cNvSpPr txBox="1"/>
          <p:nvPr/>
        </p:nvSpPr>
        <p:spPr>
          <a:xfrm>
            <a:off x="514350" y="3524250"/>
            <a:ext cx="2866094" cy="276225"/>
          </a:xfrm>
          <a:prstGeom prst="rect">
            <a:avLst/>
          </a:prstGeom>
          <a:noFill/>
        </p:spPr>
        <p:txBody>
          <a:bodyPr wrap="none" lIns="0" tIns="0" rIns="0" bIns="0">
            <a:spAutoFit/>
          </a:bodyPr>
          <a:lstStyle/>
          <a:p>
            <a:pPr>
              <a:defRPr sz="1500" b="0">
                <a:solidFill>
                  <a:srgbClr val="B6CFD6"/>
                </a:solidFill>
                <a:latin typeface="DejaVu Sans"/>
              </a:defRPr>
            </a:pPr>
            <a:r>
              <a:t>¹ ADIA     ² Khalifa University</a:t>
            </a:r>
          </a:p>
        </p:txBody>
      </p:sp>
      <p:sp>
        <p:nvSpPr>
          <p:cNvPr id="12" name="Rounded Rectangle 11"/>
          <p:cNvSpPr/>
          <p:nvPr/>
        </p:nvSpPr>
        <p:spPr>
          <a:xfrm>
            <a:off x="514350" y="4124325"/>
            <a:ext cx="3543300" cy="1552575"/>
          </a:xfrm>
          <a:prstGeom prst="roundRect">
            <a:avLst>
              <a:gd name="adj" fmla="val 6134"/>
            </a:avLst>
          </a:prstGeom>
          <a:solidFill>
            <a:srgbClr val="21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950" y="4295775"/>
            <a:ext cx="860105" cy="580072"/>
          </a:xfrm>
          <a:prstGeom prst="rect">
            <a:avLst/>
          </a:prstGeom>
          <a:noFill/>
        </p:spPr>
        <p:txBody>
          <a:bodyPr wrap="none" lIns="0" tIns="0" rIns="0" bIns="0">
            <a:spAutoFit/>
          </a:bodyPr>
          <a:lstStyle/>
          <a:p>
            <a:pPr>
              <a:defRPr sz="3150" b="1">
                <a:solidFill>
                  <a:srgbClr val="70D9CD"/>
                </a:solidFill>
                <a:latin typeface="DejaVu Sans"/>
              </a:defRPr>
            </a:pPr>
            <a:r>
              <a:t>1st</a:t>
            </a:r>
          </a:p>
        </p:txBody>
      </p:sp>
      <p:sp>
        <p:nvSpPr>
          <p:cNvPr id="14" name="TextBox 13"/>
          <p:cNvSpPr txBox="1"/>
          <p:nvPr/>
        </p:nvSpPr>
        <p:spPr>
          <a:xfrm>
            <a:off x="742950" y="4867275"/>
            <a:ext cx="2701602" cy="331470"/>
          </a:xfrm>
          <a:prstGeom prst="rect">
            <a:avLst/>
          </a:prstGeom>
          <a:noFill/>
        </p:spPr>
        <p:txBody>
          <a:bodyPr wrap="none" lIns="0" tIns="0" rIns="0" bIns="0">
            <a:spAutoFit/>
          </a:bodyPr>
          <a:lstStyle/>
          <a:p>
            <a:pPr>
              <a:defRPr sz="1800" b="1">
                <a:solidFill>
                  <a:srgbClr val="FFFFFF"/>
                </a:solidFill>
                <a:latin typeface="DejaVu Sans"/>
              </a:defRPr>
            </a:pPr>
            <a:r>
              <a:t>Greek financial NER</a:t>
            </a:r>
          </a:p>
        </p:txBody>
      </p:sp>
      <p:sp>
        <p:nvSpPr>
          <p:cNvPr id="15" name="TextBox 14"/>
          <p:cNvSpPr txBox="1"/>
          <p:nvPr/>
        </p:nvSpPr>
        <p:spPr>
          <a:xfrm>
            <a:off x="742950" y="5238750"/>
            <a:ext cx="1869313" cy="290036"/>
          </a:xfrm>
          <a:prstGeom prst="rect">
            <a:avLst/>
          </a:prstGeom>
          <a:noFill/>
        </p:spPr>
        <p:txBody>
          <a:bodyPr wrap="none" lIns="0" tIns="0" rIns="0" bIns="0">
            <a:spAutoFit/>
          </a:bodyPr>
          <a:lstStyle/>
          <a:p>
            <a:pPr>
              <a:defRPr sz="1575" b="0">
                <a:solidFill>
                  <a:srgbClr val="D6E8EB"/>
                </a:solidFill>
                <a:latin typeface="DejaVu Sans"/>
              </a:defRPr>
            </a:pPr>
            <a:r>
              <a:t>Entity F1  0.9676</a:t>
            </a:r>
          </a:p>
        </p:txBody>
      </p:sp>
      <p:sp>
        <p:nvSpPr>
          <p:cNvPr id="16" name="Rounded Rectangle 15"/>
          <p:cNvSpPr/>
          <p:nvPr/>
        </p:nvSpPr>
        <p:spPr>
          <a:xfrm>
            <a:off x="4324350" y="4124325"/>
            <a:ext cx="3543300" cy="1552575"/>
          </a:xfrm>
          <a:prstGeom prst="roundRect">
            <a:avLst>
              <a:gd name="adj" fmla="val 6134"/>
            </a:avLst>
          </a:prstGeom>
          <a:solidFill>
            <a:srgbClr val="21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2950" y="4295775"/>
            <a:ext cx="1967079" cy="580072"/>
          </a:xfrm>
          <a:prstGeom prst="rect">
            <a:avLst/>
          </a:prstGeom>
          <a:noFill/>
        </p:spPr>
        <p:txBody>
          <a:bodyPr wrap="none" lIns="0" tIns="0" rIns="0" bIns="0">
            <a:spAutoFit/>
          </a:bodyPr>
          <a:lstStyle/>
          <a:p>
            <a:pPr>
              <a:defRPr sz="3150" b="1">
                <a:solidFill>
                  <a:srgbClr val="70D9CD"/>
                </a:solidFill>
                <a:latin typeface="DejaVu Sans"/>
              </a:defRPr>
            </a:pPr>
            <a:r>
              <a:t>Tied 1st</a:t>
            </a:r>
          </a:p>
        </p:txBody>
      </p:sp>
      <p:sp>
        <p:nvSpPr>
          <p:cNvPr id="18" name="TextBox 17"/>
          <p:cNvSpPr txBox="1"/>
          <p:nvPr/>
        </p:nvSpPr>
        <p:spPr>
          <a:xfrm>
            <a:off x="4552950" y="4867275"/>
            <a:ext cx="1826939" cy="331470"/>
          </a:xfrm>
          <a:prstGeom prst="rect">
            <a:avLst/>
          </a:prstGeom>
          <a:noFill/>
        </p:spPr>
        <p:txBody>
          <a:bodyPr wrap="none" lIns="0" tIns="0" rIns="0" bIns="0">
            <a:spAutoFit/>
          </a:bodyPr>
          <a:lstStyle/>
          <a:p>
            <a:pPr>
              <a:defRPr sz="1800" b="1">
                <a:solidFill>
                  <a:srgbClr val="FFFFFF"/>
                </a:solidFill>
                <a:latin typeface="DejaVu Sans"/>
              </a:defRPr>
            </a:pPr>
            <a:r>
              <a:t>Japanese ICR</a:t>
            </a:r>
          </a:p>
        </p:txBody>
      </p:sp>
      <p:sp>
        <p:nvSpPr>
          <p:cNvPr id="19" name="TextBox 18"/>
          <p:cNvSpPr txBox="1"/>
          <p:nvPr/>
        </p:nvSpPr>
        <p:spPr>
          <a:xfrm>
            <a:off x="4552950" y="5238750"/>
            <a:ext cx="1896172" cy="290036"/>
          </a:xfrm>
          <a:prstGeom prst="rect">
            <a:avLst/>
          </a:prstGeom>
          <a:noFill/>
        </p:spPr>
        <p:txBody>
          <a:bodyPr wrap="none" lIns="0" tIns="0" rIns="0" bIns="0">
            <a:spAutoFit/>
          </a:bodyPr>
          <a:lstStyle/>
          <a:p>
            <a:pPr>
              <a:defRPr sz="1575" b="0">
                <a:solidFill>
                  <a:srgbClr val="D6E8EB"/>
                </a:solidFill>
                <a:latin typeface="DejaVu Sans"/>
              </a:defRPr>
            </a:pPr>
            <a:r>
              <a:t>Accuracy  0.9714</a:t>
            </a:r>
          </a:p>
        </p:txBody>
      </p:sp>
      <p:sp>
        <p:nvSpPr>
          <p:cNvPr id="20" name="Rounded Rectangle 19"/>
          <p:cNvSpPr/>
          <p:nvPr/>
        </p:nvSpPr>
        <p:spPr>
          <a:xfrm>
            <a:off x="8134350" y="4124325"/>
            <a:ext cx="3543300" cy="1552575"/>
          </a:xfrm>
          <a:prstGeom prst="roundRect">
            <a:avLst>
              <a:gd name="adj" fmla="val 6134"/>
            </a:avLst>
          </a:prstGeom>
          <a:solidFill>
            <a:srgbClr val="21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2950" y="4295775"/>
            <a:ext cx="1001920" cy="580072"/>
          </a:xfrm>
          <a:prstGeom prst="rect">
            <a:avLst/>
          </a:prstGeom>
          <a:noFill/>
        </p:spPr>
        <p:txBody>
          <a:bodyPr wrap="none" lIns="0" tIns="0" rIns="0" bIns="0">
            <a:spAutoFit/>
          </a:bodyPr>
          <a:lstStyle/>
          <a:p>
            <a:pPr>
              <a:defRPr sz="3150" b="1">
                <a:solidFill>
                  <a:srgbClr val="70D9CD"/>
                </a:solidFill>
                <a:latin typeface="DejaVu Sans"/>
              </a:defRPr>
            </a:pPr>
            <a:r>
              <a:t>2nd</a:t>
            </a:r>
          </a:p>
        </p:txBody>
      </p:sp>
      <p:sp>
        <p:nvSpPr>
          <p:cNvPr id="22" name="TextBox 21"/>
          <p:cNvSpPr txBox="1"/>
          <p:nvPr/>
        </p:nvSpPr>
        <p:spPr>
          <a:xfrm>
            <a:off x="8362950" y="4867275"/>
            <a:ext cx="2137916" cy="331470"/>
          </a:xfrm>
          <a:prstGeom prst="rect">
            <a:avLst/>
          </a:prstGeom>
          <a:noFill/>
        </p:spPr>
        <p:txBody>
          <a:bodyPr wrap="none" lIns="0" tIns="0" rIns="0" bIns="0">
            <a:spAutoFit/>
          </a:bodyPr>
          <a:lstStyle/>
          <a:p>
            <a:pPr>
              <a:defRPr sz="1800" b="1">
                <a:solidFill>
                  <a:srgbClr val="FFFFFF"/>
                </a:solidFill>
                <a:latin typeface="DejaVu Sans"/>
              </a:defRPr>
            </a:pPr>
            <a:r>
              <a:t>Multilingual QA</a:t>
            </a:r>
          </a:p>
        </p:txBody>
      </p:sp>
      <p:sp>
        <p:nvSpPr>
          <p:cNvPr id="23" name="TextBox 22"/>
          <p:cNvSpPr txBox="1"/>
          <p:nvPr/>
        </p:nvSpPr>
        <p:spPr>
          <a:xfrm>
            <a:off x="8362950" y="5238750"/>
            <a:ext cx="2209004" cy="290036"/>
          </a:xfrm>
          <a:prstGeom prst="rect">
            <a:avLst/>
          </a:prstGeom>
          <a:noFill/>
        </p:spPr>
        <p:txBody>
          <a:bodyPr wrap="none" lIns="0" tIns="0" rIns="0" bIns="0">
            <a:spAutoFit/>
          </a:bodyPr>
          <a:lstStyle/>
          <a:p>
            <a:pPr>
              <a:defRPr sz="1575" b="0">
                <a:solidFill>
                  <a:srgbClr val="D6E8EB"/>
                </a:solidFill>
                <a:latin typeface="DejaVu Sans"/>
              </a:defRPr>
            </a:pPr>
            <a:r>
              <a:t>ROUGE-1 F1  0.3726</a:t>
            </a:r>
          </a:p>
        </p:txBody>
      </p:sp>
      <p:sp>
        <p:nvSpPr>
          <p:cNvPr id="24" name="TextBox 23"/>
          <p:cNvSpPr txBox="1"/>
          <p:nvPr/>
        </p:nvSpPr>
        <p:spPr>
          <a:xfrm>
            <a:off x="514350" y="5924550"/>
            <a:ext cx="4076160" cy="248602"/>
          </a:xfrm>
          <a:prstGeom prst="rect">
            <a:avLst/>
          </a:prstGeom>
          <a:noFill/>
        </p:spPr>
        <p:txBody>
          <a:bodyPr wrap="none" lIns="0" tIns="0" rIns="0" bIns="0">
            <a:spAutoFit/>
          </a:bodyPr>
          <a:lstStyle/>
          <a:p>
            <a:pPr>
              <a:defRPr sz="1350" b="0">
                <a:solidFill>
                  <a:srgbClr val="B6CFD6"/>
                </a:solidFill>
                <a:latin typeface="DejaVu Sans"/>
              </a:defRPr>
            </a:pPr>
            <a:r>
              <a:t>Official private results · Different task metrics</a:t>
            </a:r>
          </a:p>
        </p:txBody>
      </p:sp>
      <p:sp>
        <p:nvSpPr>
          <p:cNvPr id="25" name="TextBox 24"/>
          <p:cNvSpPr txBox="1"/>
          <p:nvPr/>
        </p:nvSpPr>
        <p:spPr>
          <a:xfrm>
            <a:off x="9220200" y="5924550"/>
            <a:ext cx="1804531" cy="248602"/>
          </a:xfrm>
          <a:prstGeom prst="rect">
            <a:avLst/>
          </a:prstGeom>
          <a:noFill/>
        </p:spPr>
        <p:txBody>
          <a:bodyPr wrap="none" lIns="0" tIns="0" rIns="0" bIns="0">
            <a:spAutoFit/>
          </a:bodyPr>
          <a:lstStyle/>
          <a:p>
            <a:pPr>
              <a:defRPr sz="1350" b="0">
                <a:solidFill>
                  <a:srgbClr val="B6CFD6"/>
                </a:solidFill>
                <a:latin typeface="DejaVu Sans"/>
              </a:defRPr>
            </a:pPr>
            <a:r>
              <a:t>Synthetic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6515100"/>
            <a:ext cx="2811353" cy="207168"/>
          </a:xfrm>
          <a:prstGeom prst="rect">
            <a:avLst/>
          </a:prstGeom>
          <a:noFill/>
        </p:spPr>
        <p:txBody>
          <a:bodyPr wrap="none" lIns="0" tIns="0" rIns="0" bIns="0">
            <a:spAutoFit/>
          </a:bodyPr>
          <a:lstStyle/>
          <a:p>
            <a:pPr>
              <a:defRPr sz="1125" b="0">
                <a:solidFill>
                  <a:srgbClr val="506371"/>
                </a:solidFill>
                <a:latin typeface="DejaVu Sans"/>
              </a:defRPr>
            </a:pPr>
            <a:r>
              <a:t>ADML   ·   FinNLP 2026   ·   FinNLP-65</a:t>
            </a:r>
          </a:p>
        </p:txBody>
      </p:sp>
      <p:sp>
        <p:nvSpPr>
          <p:cNvPr id="4" name="TextBox 3"/>
          <p:cNvSpPr txBox="1"/>
          <p:nvPr/>
        </p:nvSpPr>
        <p:spPr>
          <a:xfrm>
            <a:off x="11029950" y="6515100"/>
            <a:ext cx="654973" cy="207168"/>
          </a:xfrm>
          <a:prstGeom prst="rect">
            <a:avLst/>
          </a:prstGeom>
          <a:noFill/>
        </p:spPr>
        <p:txBody>
          <a:bodyPr wrap="none" lIns="0" tIns="0" rIns="0" bIns="0">
            <a:spAutoFit/>
          </a:bodyPr>
          <a:lstStyle/>
          <a:p>
            <a:pPr>
              <a:defRPr sz="1125" b="0">
                <a:solidFill>
                  <a:srgbClr val="506371"/>
                </a:solidFill>
                <a:latin typeface="DejaVu Sans"/>
              </a:defRPr>
            </a:pPr>
            <a:r>
              <a:t>02 / 06</a:t>
            </a:r>
          </a:p>
        </p:txBody>
      </p:sp>
      <p:sp>
        <p:nvSpPr>
          <p:cNvPr id="5" name="TextBox 4"/>
          <p:cNvSpPr txBox="1"/>
          <p:nvPr/>
        </p:nvSpPr>
        <p:spPr>
          <a:xfrm>
            <a:off x="514350" y="352425"/>
            <a:ext cx="2972367" cy="248602"/>
          </a:xfrm>
          <a:prstGeom prst="rect">
            <a:avLst/>
          </a:prstGeom>
          <a:noFill/>
        </p:spPr>
        <p:txBody>
          <a:bodyPr wrap="none" lIns="0" tIns="0" rIns="0" bIns="0">
            <a:spAutoFit/>
          </a:bodyPr>
          <a:lstStyle/>
          <a:p>
            <a:pPr>
              <a:defRPr sz="1350" b="1">
                <a:solidFill>
                  <a:srgbClr val="087F83"/>
                </a:solidFill>
                <a:latin typeface="DejaVu Sans"/>
              </a:defRPr>
            </a:pPr>
            <a:r>
              <a:t>AGENTIC RESEARCH METHOD</a:t>
            </a:r>
          </a:p>
        </p:txBody>
      </p:sp>
      <p:sp>
        <p:nvSpPr>
          <p:cNvPr id="6" name="TextBox 5"/>
          <p:cNvSpPr txBox="1"/>
          <p:nvPr/>
        </p:nvSpPr>
        <p:spPr>
          <a:xfrm>
            <a:off x="514350" y="771525"/>
            <a:ext cx="6343277" cy="552450"/>
          </a:xfrm>
          <a:prstGeom prst="rect">
            <a:avLst/>
          </a:prstGeom>
          <a:noFill/>
        </p:spPr>
        <p:txBody>
          <a:bodyPr wrap="none" lIns="0" tIns="0" rIns="0" bIns="0">
            <a:spAutoFit/>
          </a:bodyPr>
          <a:lstStyle/>
          <a:p>
            <a:pPr>
              <a:defRPr sz="3000" b="1">
                <a:solidFill>
                  <a:srgbClr val="152A3B"/>
                </a:solidFill>
                <a:latin typeface="DejaVu Sans"/>
              </a:defRPr>
            </a:pPr>
            <a:r>
              <a:t>How we ran the experiments</a:t>
            </a:r>
          </a:p>
        </p:txBody>
      </p:sp>
      <p:sp>
        <p:nvSpPr>
          <p:cNvPr id="7" name="Rectangle 6"/>
          <p:cNvSpPr/>
          <p:nvPr/>
        </p:nvSpPr>
        <p:spPr>
          <a:xfrm>
            <a:off x="514350" y="1362075"/>
            <a:ext cx="11163300" cy="28575"/>
          </a:xfrm>
          <a:prstGeom prst="rect">
            <a:avLst/>
          </a:prstGeom>
          <a:solidFill>
            <a:srgbClr val="D6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4350" y="1743075"/>
            <a:ext cx="2057400" cy="1457325"/>
          </a:xfrm>
          <a:prstGeom prst="roundRect">
            <a:avLst>
              <a:gd name="adj" fmla="val 5882"/>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24049"/>
            <a:ext cx="417500" cy="276225"/>
          </a:xfrm>
          <a:prstGeom prst="rect">
            <a:avLst/>
          </a:prstGeom>
          <a:noFill/>
        </p:spPr>
        <p:txBody>
          <a:bodyPr wrap="none" lIns="0" tIns="0" rIns="0" bIns="0">
            <a:spAutoFit/>
          </a:bodyPr>
          <a:lstStyle/>
          <a:p>
            <a:pPr>
              <a:defRPr sz="1500" b="1">
                <a:solidFill>
                  <a:srgbClr val="087F83"/>
                </a:solidFill>
                <a:latin typeface="DejaVu Sans"/>
              </a:defRPr>
            </a:pPr>
            <a:r>
              <a:t>01</a:t>
            </a:r>
          </a:p>
        </p:txBody>
      </p:sp>
      <p:sp>
        <p:nvSpPr>
          <p:cNvPr id="10" name="TextBox 9"/>
          <p:cNvSpPr txBox="1"/>
          <p:nvPr/>
        </p:nvSpPr>
        <p:spPr>
          <a:xfrm>
            <a:off x="685800" y="2305050"/>
            <a:ext cx="958490" cy="386715"/>
          </a:xfrm>
          <a:prstGeom prst="rect">
            <a:avLst/>
          </a:prstGeom>
          <a:noFill/>
        </p:spPr>
        <p:txBody>
          <a:bodyPr wrap="none" lIns="0" tIns="0" rIns="0" bIns="0">
            <a:spAutoFit/>
          </a:bodyPr>
          <a:lstStyle/>
          <a:p>
            <a:pPr>
              <a:defRPr sz="2100" b="1">
                <a:solidFill>
                  <a:srgbClr val="152A3B"/>
                </a:solidFill>
                <a:latin typeface="DejaVu Sans"/>
              </a:defRPr>
            </a:pPr>
            <a:r>
              <a:t>Audit</a:t>
            </a:r>
          </a:p>
        </p:txBody>
      </p:sp>
      <p:sp>
        <p:nvSpPr>
          <p:cNvPr id="11" name="TextBox 10"/>
          <p:cNvSpPr txBox="1"/>
          <p:nvPr/>
        </p:nvSpPr>
        <p:spPr>
          <a:xfrm>
            <a:off x="685800" y="2733675"/>
            <a:ext cx="1366530" cy="248602"/>
          </a:xfrm>
          <a:prstGeom prst="rect">
            <a:avLst/>
          </a:prstGeom>
          <a:noFill/>
        </p:spPr>
        <p:txBody>
          <a:bodyPr wrap="none" lIns="0" tIns="0" rIns="0" bIns="0">
            <a:spAutoFit/>
          </a:bodyPr>
          <a:lstStyle/>
          <a:p>
            <a:pPr>
              <a:defRPr sz="1350" b="0">
                <a:solidFill>
                  <a:srgbClr val="506371"/>
                </a:solidFill>
                <a:latin typeface="DejaVu Sans"/>
              </a:defRPr>
            </a:pPr>
            <a:r>
              <a:t>Data + metric</a:t>
            </a:r>
          </a:p>
        </p:txBody>
      </p:sp>
      <p:sp>
        <p:nvSpPr>
          <p:cNvPr id="12" name="TextBox 11"/>
          <p:cNvSpPr txBox="1"/>
          <p:nvPr/>
        </p:nvSpPr>
        <p:spPr>
          <a:xfrm>
            <a:off x="2619375" y="2324100"/>
            <a:ext cx="258384" cy="372903"/>
          </a:xfrm>
          <a:prstGeom prst="rect">
            <a:avLst/>
          </a:prstGeom>
          <a:noFill/>
        </p:spPr>
        <p:txBody>
          <a:bodyPr wrap="none" lIns="0" tIns="0" rIns="0" bIns="0">
            <a:spAutoFit/>
          </a:bodyPr>
          <a:lstStyle/>
          <a:p>
            <a:pPr>
              <a:defRPr sz="2025" b="1">
                <a:solidFill>
                  <a:srgbClr val="087F83"/>
                </a:solidFill>
                <a:latin typeface="DejaVu Sans"/>
              </a:defRPr>
            </a:pPr>
            <a:r>
              <a:t>›</a:t>
            </a:r>
          </a:p>
        </p:txBody>
      </p:sp>
      <p:sp>
        <p:nvSpPr>
          <p:cNvPr id="13" name="Rounded Rectangle 12"/>
          <p:cNvSpPr/>
          <p:nvPr/>
        </p:nvSpPr>
        <p:spPr>
          <a:xfrm>
            <a:off x="2790825" y="1743075"/>
            <a:ext cx="2057400" cy="1457325"/>
          </a:xfrm>
          <a:prstGeom prst="roundRect">
            <a:avLst>
              <a:gd name="adj" fmla="val 5882"/>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2275" y="1924049"/>
            <a:ext cx="417500" cy="276225"/>
          </a:xfrm>
          <a:prstGeom prst="rect">
            <a:avLst/>
          </a:prstGeom>
          <a:noFill/>
        </p:spPr>
        <p:txBody>
          <a:bodyPr wrap="none" lIns="0" tIns="0" rIns="0" bIns="0">
            <a:spAutoFit/>
          </a:bodyPr>
          <a:lstStyle/>
          <a:p>
            <a:pPr>
              <a:defRPr sz="1500" b="1">
                <a:solidFill>
                  <a:srgbClr val="087F83"/>
                </a:solidFill>
                <a:latin typeface="DejaVu Sans"/>
              </a:defRPr>
            </a:pPr>
            <a:r>
              <a:t>02</a:t>
            </a:r>
          </a:p>
        </p:txBody>
      </p:sp>
      <p:sp>
        <p:nvSpPr>
          <p:cNvPr id="15" name="TextBox 14"/>
          <p:cNvSpPr txBox="1"/>
          <p:nvPr/>
        </p:nvSpPr>
        <p:spPr>
          <a:xfrm>
            <a:off x="2962275" y="2305050"/>
            <a:ext cx="2008100" cy="386715"/>
          </a:xfrm>
          <a:prstGeom prst="rect">
            <a:avLst/>
          </a:prstGeom>
          <a:noFill/>
        </p:spPr>
        <p:txBody>
          <a:bodyPr wrap="none" lIns="0" tIns="0" rIns="0" bIns="0">
            <a:spAutoFit/>
          </a:bodyPr>
          <a:lstStyle/>
          <a:p>
            <a:pPr>
              <a:defRPr sz="2100" b="1">
                <a:solidFill>
                  <a:srgbClr val="152A3B"/>
                </a:solidFill>
                <a:latin typeface="DejaVu Sans"/>
              </a:defRPr>
            </a:pPr>
            <a:r>
              <a:t>Hypothesize</a:t>
            </a:r>
          </a:p>
        </p:txBody>
      </p:sp>
      <p:sp>
        <p:nvSpPr>
          <p:cNvPr id="16" name="TextBox 15"/>
          <p:cNvSpPr txBox="1"/>
          <p:nvPr/>
        </p:nvSpPr>
        <p:spPr>
          <a:xfrm>
            <a:off x="2962275" y="2733675"/>
            <a:ext cx="1473603" cy="248602"/>
          </a:xfrm>
          <a:prstGeom prst="rect">
            <a:avLst/>
          </a:prstGeom>
          <a:noFill/>
        </p:spPr>
        <p:txBody>
          <a:bodyPr wrap="none" lIns="0" tIns="0" rIns="0" bIns="0">
            <a:spAutoFit/>
          </a:bodyPr>
          <a:lstStyle/>
          <a:p>
            <a:pPr>
              <a:defRPr sz="1350" b="0">
                <a:solidFill>
                  <a:srgbClr val="506371"/>
                </a:solidFill>
                <a:latin typeface="DejaVu Sans"/>
              </a:defRPr>
            </a:pPr>
            <a:r>
              <a:t>Target a failure</a:t>
            </a:r>
          </a:p>
        </p:txBody>
      </p:sp>
      <p:sp>
        <p:nvSpPr>
          <p:cNvPr id="17" name="TextBox 16"/>
          <p:cNvSpPr txBox="1"/>
          <p:nvPr/>
        </p:nvSpPr>
        <p:spPr>
          <a:xfrm>
            <a:off x="4895850" y="2324100"/>
            <a:ext cx="258384" cy="372903"/>
          </a:xfrm>
          <a:prstGeom prst="rect">
            <a:avLst/>
          </a:prstGeom>
          <a:noFill/>
        </p:spPr>
        <p:txBody>
          <a:bodyPr wrap="none" lIns="0" tIns="0" rIns="0" bIns="0">
            <a:spAutoFit/>
          </a:bodyPr>
          <a:lstStyle/>
          <a:p>
            <a:pPr>
              <a:defRPr sz="2025" b="1">
                <a:solidFill>
                  <a:srgbClr val="087F83"/>
                </a:solidFill>
                <a:latin typeface="DejaVu Sans"/>
              </a:defRPr>
            </a:pPr>
            <a:r>
              <a:t>›</a:t>
            </a:r>
          </a:p>
        </p:txBody>
      </p:sp>
      <p:sp>
        <p:nvSpPr>
          <p:cNvPr id="18" name="Rounded Rectangle 17"/>
          <p:cNvSpPr/>
          <p:nvPr/>
        </p:nvSpPr>
        <p:spPr>
          <a:xfrm>
            <a:off x="5067300" y="1743075"/>
            <a:ext cx="2057400" cy="1457325"/>
          </a:xfrm>
          <a:prstGeom prst="roundRect">
            <a:avLst>
              <a:gd name="adj" fmla="val 5882"/>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8750" y="1924049"/>
            <a:ext cx="417500" cy="276225"/>
          </a:xfrm>
          <a:prstGeom prst="rect">
            <a:avLst/>
          </a:prstGeom>
          <a:noFill/>
        </p:spPr>
        <p:txBody>
          <a:bodyPr wrap="none" lIns="0" tIns="0" rIns="0" bIns="0">
            <a:spAutoFit/>
          </a:bodyPr>
          <a:lstStyle/>
          <a:p>
            <a:pPr>
              <a:defRPr sz="1500" b="1">
                <a:solidFill>
                  <a:srgbClr val="087F83"/>
                </a:solidFill>
                <a:latin typeface="DejaVu Sans"/>
              </a:defRPr>
            </a:pPr>
            <a:r>
              <a:t>03</a:t>
            </a:r>
          </a:p>
        </p:txBody>
      </p:sp>
      <p:sp>
        <p:nvSpPr>
          <p:cNvPr id="20" name="TextBox 19"/>
          <p:cNvSpPr txBox="1"/>
          <p:nvPr/>
        </p:nvSpPr>
        <p:spPr>
          <a:xfrm>
            <a:off x="5238750" y="2305050"/>
            <a:ext cx="1768878" cy="386715"/>
          </a:xfrm>
          <a:prstGeom prst="rect">
            <a:avLst/>
          </a:prstGeom>
          <a:noFill/>
        </p:spPr>
        <p:txBody>
          <a:bodyPr wrap="none" lIns="0" tIns="0" rIns="0" bIns="0">
            <a:spAutoFit/>
          </a:bodyPr>
          <a:lstStyle/>
          <a:p>
            <a:pPr>
              <a:defRPr sz="2100" b="1">
                <a:solidFill>
                  <a:srgbClr val="152A3B"/>
                </a:solidFill>
                <a:latin typeface="DejaVu Sans"/>
              </a:defRPr>
            </a:pPr>
            <a:r>
              <a:t>Implement</a:t>
            </a:r>
          </a:p>
        </p:txBody>
      </p:sp>
      <p:sp>
        <p:nvSpPr>
          <p:cNvPr id="21" name="TextBox 20"/>
          <p:cNvSpPr txBox="1"/>
          <p:nvPr/>
        </p:nvSpPr>
        <p:spPr>
          <a:xfrm>
            <a:off x="5238750" y="2733675"/>
            <a:ext cx="1430405" cy="248602"/>
          </a:xfrm>
          <a:prstGeom prst="rect">
            <a:avLst/>
          </a:prstGeom>
          <a:noFill/>
        </p:spPr>
        <p:txBody>
          <a:bodyPr wrap="none" lIns="0" tIns="0" rIns="0" bIns="0">
            <a:spAutoFit/>
          </a:bodyPr>
          <a:lstStyle/>
          <a:p>
            <a:pPr>
              <a:defRPr sz="1350" b="0">
                <a:solidFill>
                  <a:srgbClr val="506371"/>
                </a:solidFill>
                <a:latin typeface="DejaVu Sans"/>
              </a:defRPr>
            </a:pPr>
            <a:r>
              <a:t>Controlled trial</a:t>
            </a:r>
          </a:p>
        </p:txBody>
      </p:sp>
      <p:sp>
        <p:nvSpPr>
          <p:cNvPr id="22" name="TextBox 21"/>
          <p:cNvSpPr txBox="1"/>
          <p:nvPr/>
        </p:nvSpPr>
        <p:spPr>
          <a:xfrm>
            <a:off x="7172325" y="2324100"/>
            <a:ext cx="258384" cy="372903"/>
          </a:xfrm>
          <a:prstGeom prst="rect">
            <a:avLst/>
          </a:prstGeom>
          <a:noFill/>
        </p:spPr>
        <p:txBody>
          <a:bodyPr wrap="none" lIns="0" tIns="0" rIns="0" bIns="0">
            <a:spAutoFit/>
          </a:bodyPr>
          <a:lstStyle/>
          <a:p>
            <a:pPr>
              <a:defRPr sz="2025" b="1">
                <a:solidFill>
                  <a:srgbClr val="087F83"/>
                </a:solidFill>
                <a:latin typeface="DejaVu Sans"/>
              </a:defRPr>
            </a:pPr>
            <a:r>
              <a:t>›</a:t>
            </a:r>
          </a:p>
        </p:txBody>
      </p:sp>
      <p:sp>
        <p:nvSpPr>
          <p:cNvPr id="23" name="Rounded Rectangle 22"/>
          <p:cNvSpPr/>
          <p:nvPr/>
        </p:nvSpPr>
        <p:spPr>
          <a:xfrm>
            <a:off x="7343775" y="1743075"/>
            <a:ext cx="2057400" cy="1457325"/>
          </a:xfrm>
          <a:prstGeom prst="roundRect">
            <a:avLst>
              <a:gd name="adj" fmla="val 5882"/>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5225" y="1924049"/>
            <a:ext cx="417500" cy="276225"/>
          </a:xfrm>
          <a:prstGeom prst="rect">
            <a:avLst/>
          </a:prstGeom>
          <a:noFill/>
        </p:spPr>
        <p:txBody>
          <a:bodyPr wrap="none" lIns="0" tIns="0" rIns="0" bIns="0">
            <a:spAutoFit/>
          </a:bodyPr>
          <a:lstStyle/>
          <a:p>
            <a:pPr>
              <a:defRPr sz="1500" b="1">
                <a:solidFill>
                  <a:srgbClr val="087F83"/>
                </a:solidFill>
                <a:latin typeface="DejaVu Sans"/>
              </a:defRPr>
            </a:pPr>
            <a:r>
              <a:t>04</a:t>
            </a:r>
          </a:p>
        </p:txBody>
      </p:sp>
      <p:sp>
        <p:nvSpPr>
          <p:cNvPr id="25" name="TextBox 24"/>
          <p:cNvSpPr txBox="1"/>
          <p:nvPr/>
        </p:nvSpPr>
        <p:spPr>
          <a:xfrm>
            <a:off x="7515225" y="2305050"/>
            <a:ext cx="1458031" cy="386715"/>
          </a:xfrm>
          <a:prstGeom prst="rect">
            <a:avLst/>
          </a:prstGeom>
          <a:noFill/>
        </p:spPr>
        <p:txBody>
          <a:bodyPr wrap="none" lIns="0" tIns="0" rIns="0" bIns="0">
            <a:spAutoFit/>
          </a:bodyPr>
          <a:lstStyle/>
          <a:p>
            <a:pPr>
              <a:defRPr sz="2100" b="1">
                <a:solidFill>
                  <a:srgbClr val="152A3B"/>
                </a:solidFill>
                <a:latin typeface="DejaVu Sans"/>
              </a:defRPr>
            </a:pPr>
            <a:r>
              <a:t>Evaluate</a:t>
            </a:r>
          </a:p>
        </p:txBody>
      </p:sp>
      <p:sp>
        <p:nvSpPr>
          <p:cNvPr id="26" name="TextBox 25"/>
          <p:cNvSpPr txBox="1"/>
          <p:nvPr/>
        </p:nvSpPr>
        <p:spPr>
          <a:xfrm>
            <a:off x="7515225" y="2733675"/>
            <a:ext cx="1570880" cy="248602"/>
          </a:xfrm>
          <a:prstGeom prst="rect">
            <a:avLst/>
          </a:prstGeom>
          <a:noFill/>
        </p:spPr>
        <p:txBody>
          <a:bodyPr wrap="none" lIns="0" tIns="0" rIns="0" bIns="0">
            <a:spAutoFit/>
          </a:bodyPr>
          <a:lstStyle/>
          <a:p>
            <a:pPr>
              <a:defRPr sz="1350" b="0">
                <a:solidFill>
                  <a:srgbClr val="506371"/>
                </a:solidFill>
                <a:latin typeface="DejaVu Sans"/>
              </a:defRPr>
            </a:pPr>
            <a:r>
              <a:t>Transfer + harm</a:t>
            </a:r>
          </a:p>
        </p:txBody>
      </p:sp>
      <p:sp>
        <p:nvSpPr>
          <p:cNvPr id="27" name="TextBox 26"/>
          <p:cNvSpPr txBox="1"/>
          <p:nvPr/>
        </p:nvSpPr>
        <p:spPr>
          <a:xfrm>
            <a:off x="9448800" y="2324100"/>
            <a:ext cx="258384" cy="372903"/>
          </a:xfrm>
          <a:prstGeom prst="rect">
            <a:avLst/>
          </a:prstGeom>
          <a:noFill/>
        </p:spPr>
        <p:txBody>
          <a:bodyPr wrap="none" lIns="0" tIns="0" rIns="0" bIns="0">
            <a:spAutoFit/>
          </a:bodyPr>
          <a:lstStyle/>
          <a:p>
            <a:pPr>
              <a:defRPr sz="2025" b="1">
                <a:solidFill>
                  <a:srgbClr val="087F83"/>
                </a:solidFill>
                <a:latin typeface="DejaVu Sans"/>
              </a:defRPr>
            </a:pPr>
            <a:r>
              <a:t>›</a:t>
            </a:r>
          </a:p>
        </p:txBody>
      </p:sp>
      <p:sp>
        <p:nvSpPr>
          <p:cNvPr id="28" name="Rounded Rectangle 27"/>
          <p:cNvSpPr/>
          <p:nvPr/>
        </p:nvSpPr>
        <p:spPr>
          <a:xfrm>
            <a:off x="9620250" y="1743075"/>
            <a:ext cx="2057400" cy="1457325"/>
          </a:xfrm>
          <a:prstGeom prst="roundRect">
            <a:avLst>
              <a:gd name="adj" fmla="val 5882"/>
            </a:avLst>
          </a:prstGeom>
          <a:solidFill>
            <a:srgbClr val="E9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91700" y="1924049"/>
            <a:ext cx="417500" cy="276225"/>
          </a:xfrm>
          <a:prstGeom prst="rect">
            <a:avLst/>
          </a:prstGeom>
          <a:noFill/>
        </p:spPr>
        <p:txBody>
          <a:bodyPr wrap="none" lIns="0" tIns="0" rIns="0" bIns="0">
            <a:spAutoFit/>
          </a:bodyPr>
          <a:lstStyle/>
          <a:p>
            <a:pPr>
              <a:defRPr sz="1500" b="1">
                <a:solidFill>
                  <a:srgbClr val="087F83"/>
                </a:solidFill>
                <a:latin typeface="DejaVu Sans"/>
              </a:defRPr>
            </a:pPr>
            <a:r>
              <a:t>05</a:t>
            </a:r>
          </a:p>
        </p:txBody>
      </p:sp>
      <p:sp>
        <p:nvSpPr>
          <p:cNvPr id="30" name="TextBox 29"/>
          <p:cNvSpPr txBox="1"/>
          <p:nvPr/>
        </p:nvSpPr>
        <p:spPr>
          <a:xfrm>
            <a:off x="9791700" y="2305050"/>
            <a:ext cx="1175965" cy="386715"/>
          </a:xfrm>
          <a:prstGeom prst="rect">
            <a:avLst/>
          </a:prstGeom>
          <a:noFill/>
        </p:spPr>
        <p:txBody>
          <a:bodyPr wrap="none" lIns="0" tIns="0" rIns="0" bIns="0">
            <a:spAutoFit/>
          </a:bodyPr>
          <a:lstStyle/>
          <a:p>
            <a:pPr>
              <a:defRPr sz="2100" b="1">
                <a:solidFill>
                  <a:srgbClr val="152A3B"/>
                </a:solidFill>
                <a:latin typeface="DejaVu Sans"/>
              </a:defRPr>
            </a:pPr>
            <a:r>
              <a:t>Decide</a:t>
            </a:r>
          </a:p>
        </p:txBody>
      </p:sp>
      <p:sp>
        <p:nvSpPr>
          <p:cNvPr id="31" name="TextBox 30"/>
          <p:cNvSpPr txBox="1"/>
          <p:nvPr/>
        </p:nvSpPr>
        <p:spPr>
          <a:xfrm>
            <a:off x="9791700" y="2733675"/>
            <a:ext cx="1533125" cy="248602"/>
          </a:xfrm>
          <a:prstGeom prst="rect">
            <a:avLst/>
          </a:prstGeom>
          <a:noFill/>
        </p:spPr>
        <p:txBody>
          <a:bodyPr wrap="none" lIns="0" tIns="0" rIns="0" bIns="0">
            <a:spAutoFit/>
          </a:bodyPr>
          <a:lstStyle/>
          <a:p>
            <a:pPr>
              <a:defRPr sz="1350" b="0">
                <a:solidFill>
                  <a:srgbClr val="506371"/>
                </a:solidFill>
                <a:latin typeface="DejaVu Sans"/>
              </a:defRPr>
            </a:pPr>
            <a:r>
              <a:t>Promote / reject</a:t>
            </a:r>
          </a:p>
        </p:txBody>
      </p:sp>
      <p:sp>
        <p:nvSpPr>
          <p:cNvPr id="32" name="TextBox 31"/>
          <p:cNvSpPr txBox="1"/>
          <p:nvPr/>
        </p:nvSpPr>
        <p:spPr>
          <a:xfrm>
            <a:off x="514350" y="3476625"/>
            <a:ext cx="9098900" cy="372903"/>
          </a:xfrm>
          <a:prstGeom prst="rect">
            <a:avLst/>
          </a:prstGeom>
          <a:noFill/>
        </p:spPr>
        <p:txBody>
          <a:bodyPr wrap="none" lIns="0" tIns="0" rIns="0" bIns="0">
            <a:spAutoFit/>
          </a:bodyPr>
          <a:lstStyle/>
          <a:p>
            <a:pPr>
              <a:defRPr sz="2025" b="1">
                <a:solidFill>
                  <a:srgbClr val="152A3B"/>
                </a:solidFill>
                <a:latin typeface="DejaVu Sans"/>
              </a:defRPr>
            </a:pPr>
            <a:r>
              <a:t>Evaluate across entity groups, sources, companies, and time.</a:t>
            </a:r>
          </a:p>
        </p:txBody>
      </p:sp>
      <p:sp>
        <p:nvSpPr>
          <p:cNvPr id="33" name="TextBox 32"/>
          <p:cNvSpPr txBox="1"/>
          <p:nvPr/>
        </p:nvSpPr>
        <p:spPr>
          <a:xfrm>
            <a:off x="514350" y="3924300"/>
            <a:ext cx="8359787" cy="331470"/>
          </a:xfrm>
          <a:prstGeom prst="rect">
            <a:avLst/>
          </a:prstGeom>
          <a:noFill/>
        </p:spPr>
        <p:txBody>
          <a:bodyPr wrap="none" lIns="0" tIns="0" rIns="0" bIns="0">
            <a:spAutoFit/>
          </a:bodyPr>
          <a:lstStyle/>
          <a:p>
            <a:pPr>
              <a:defRPr sz="1800" b="0">
                <a:solidFill>
                  <a:srgbClr val="506371"/>
                </a:solidFill>
                <a:latin typeface="DejaVu Sans"/>
              </a:defRPr>
            </a:pPr>
            <a:r>
              <a:t>Record corrections, new errors, negative results, and revised decisions.</a:t>
            </a:r>
          </a:p>
        </p:txBody>
      </p:sp>
      <p:sp>
        <p:nvSpPr>
          <p:cNvPr id="34" name="Rounded Rectangle 33"/>
          <p:cNvSpPr/>
          <p:nvPr/>
        </p:nvSpPr>
        <p:spPr>
          <a:xfrm>
            <a:off x="514350" y="4543425"/>
            <a:ext cx="2647950" cy="1143000"/>
          </a:xfrm>
          <a:prstGeom prst="roundRect">
            <a:avLst>
              <a:gd name="adj" fmla="val 6666"/>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850" y="4667250"/>
            <a:ext cx="1007347" cy="593883"/>
          </a:xfrm>
          <a:prstGeom prst="rect">
            <a:avLst/>
          </a:prstGeom>
          <a:noFill/>
        </p:spPr>
        <p:txBody>
          <a:bodyPr wrap="none" lIns="0" tIns="0" rIns="0" bIns="0">
            <a:spAutoFit/>
          </a:bodyPr>
          <a:lstStyle/>
          <a:p>
            <a:pPr>
              <a:defRPr sz="3225" b="1">
                <a:solidFill>
                  <a:srgbClr val="087F83"/>
                </a:solidFill>
                <a:latin typeface="DejaVu Sans"/>
              </a:defRPr>
            </a:pPr>
            <a:r>
              <a:t>209</a:t>
            </a:r>
          </a:p>
        </p:txBody>
      </p:sp>
      <p:sp>
        <p:nvSpPr>
          <p:cNvPr id="36" name="TextBox 35"/>
          <p:cNvSpPr txBox="1"/>
          <p:nvPr/>
        </p:nvSpPr>
        <p:spPr>
          <a:xfrm>
            <a:off x="704850" y="5238750"/>
            <a:ext cx="1827879" cy="303847"/>
          </a:xfrm>
          <a:prstGeom prst="rect">
            <a:avLst/>
          </a:prstGeom>
          <a:noFill/>
        </p:spPr>
        <p:txBody>
          <a:bodyPr wrap="none" lIns="0" tIns="0" rIns="0" bIns="0">
            <a:spAutoFit/>
          </a:bodyPr>
          <a:lstStyle/>
          <a:p>
            <a:pPr>
              <a:defRPr sz="1650" b="0">
                <a:solidFill>
                  <a:srgbClr val="152A3B"/>
                </a:solidFill>
                <a:latin typeface="DejaVu Sans"/>
              </a:defRPr>
            </a:pPr>
            <a:r>
              <a:t>research scripts</a:t>
            </a:r>
          </a:p>
        </p:txBody>
      </p:sp>
      <p:sp>
        <p:nvSpPr>
          <p:cNvPr id="37" name="Rounded Rectangle 36"/>
          <p:cNvSpPr/>
          <p:nvPr/>
        </p:nvSpPr>
        <p:spPr>
          <a:xfrm>
            <a:off x="3352800" y="4543425"/>
            <a:ext cx="2647950" cy="1143000"/>
          </a:xfrm>
          <a:prstGeom prst="roundRect">
            <a:avLst>
              <a:gd name="adj" fmla="val 6666"/>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43300" y="4667250"/>
            <a:ext cx="722365" cy="593883"/>
          </a:xfrm>
          <a:prstGeom prst="rect">
            <a:avLst/>
          </a:prstGeom>
          <a:noFill/>
        </p:spPr>
        <p:txBody>
          <a:bodyPr wrap="none" lIns="0" tIns="0" rIns="0" bIns="0">
            <a:spAutoFit/>
          </a:bodyPr>
          <a:lstStyle/>
          <a:p>
            <a:pPr>
              <a:defRPr sz="3225" b="1">
                <a:solidFill>
                  <a:srgbClr val="087F83"/>
                </a:solidFill>
                <a:latin typeface="DejaVu Sans"/>
              </a:defRPr>
            </a:pPr>
            <a:r>
              <a:t>32</a:t>
            </a:r>
          </a:p>
        </p:txBody>
      </p:sp>
      <p:sp>
        <p:nvSpPr>
          <p:cNvPr id="39" name="TextBox 38"/>
          <p:cNvSpPr txBox="1"/>
          <p:nvPr/>
        </p:nvSpPr>
        <p:spPr>
          <a:xfrm>
            <a:off x="3543300" y="5238750"/>
            <a:ext cx="1813963" cy="303847"/>
          </a:xfrm>
          <a:prstGeom prst="rect">
            <a:avLst/>
          </a:prstGeom>
          <a:noFill/>
        </p:spPr>
        <p:txBody>
          <a:bodyPr wrap="none" lIns="0" tIns="0" rIns="0" bIns="0">
            <a:spAutoFit/>
          </a:bodyPr>
          <a:lstStyle/>
          <a:p>
            <a:pPr>
              <a:defRPr sz="1650" b="0">
                <a:solidFill>
                  <a:srgbClr val="152A3B"/>
                </a:solidFill>
                <a:latin typeface="DejaVu Sans"/>
              </a:defRPr>
            </a:pPr>
            <a:r>
              <a:t>source modules</a:t>
            </a:r>
          </a:p>
        </p:txBody>
      </p:sp>
      <p:sp>
        <p:nvSpPr>
          <p:cNvPr id="40" name="Rounded Rectangle 39"/>
          <p:cNvSpPr/>
          <p:nvPr/>
        </p:nvSpPr>
        <p:spPr>
          <a:xfrm>
            <a:off x="6191250" y="4543425"/>
            <a:ext cx="2647950" cy="1143000"/>
          </a:xfrm>
          <a:prstGeom prst="roundRect">
            <a:avLst>
              <a:gd name="adj" fmla="val 6666"/>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1750" y="4667250"/>
            <a:ext cx="722365" cy="593883"/>
          </a:xfrm>
          <a:prstGeom prst="rect">
            <a:avLst/>
          </a:prstGeom>
          <a:noFill/>
        </p:spPr>
        <p:txBody>
          <a:bodyPr wrap="none" lIns="0" tIns="0" rIns="0" bIns="0">
            <a:spAutoFit/>
          </a:bodyPr>
          <a:lstStyle/>
          <a:p>
            <a:pPr>
              <a:defRPr sz="3225" b="1">
                <a:solidFill>
                  <a:srgbClr val="087F83"/>
                </a:solidFill>
                <a:latin typeface="DejaVu Sans"/>
              </a:defRPr>
            </a:pPr>
            <a:r>
              <a:t>99</a:t>
            </a:r>
          </a:p>
        </p:txBody>
      </p:sp>
      <p:sp>
        <p:nvSpPr>
          <p:cNvPr id="42" name="TextBox 41"/>
          <p:cNvSpPr txBox="1"/>
          <p:nvPr/>
        </p:nvSpPr>
        <p:spPr>
          <a:xfrm>
            <a:off x="6381750" y="5238750"/>
            <a:ext cx="1049740" cy="303847"/>
          </a:xfrm>
          <a:prstGeom prst="rect">
            <a:avLst/>
          </a:prstGeom>
          <a:noFill/>
        </p:spPr>
        <p:txBody>
          <a:bodyPr wrap="none" lIns="0" tIns="0" rIns="0" bIns="0">
            <a:spAutoFit/>
          </a:bodyPr>
          <a:lstStyle/>
          <a:p>
            <a:pPr>
              <a:defRPr sz="1650" b="0">
                <a:solidFill>
                  <a:srgbClr val="152A3B"/>
                </a:solidFill>
                <a:latin typeface="DejaVu Sans"/>
              </a:defRPr>
            </a:pPr>
            <a:r>
              <a:t>test files</a:t>
            </a:r>
          </a:p>
        </p:txBody>
      </p:sp>
      <p:sp>
        <p:nvSpPr>
          <p:cNvPr id="43" name="Rounded Rectangle 42"/>
          <p:cNvSpPr/>
          <p:nvPr/>
        </p:nvSpPr>
        <p:spPr>
          <a:xfrm>
            <a:off x="9029700" y="4543425"/>
            <a:ext cx="2647950" cy="1143000"/>
          </a:xfrm>
          <a:prstGeom prst="roundRect">
            <a:avLst>
              <a:gd name="adj" fmla="val 6666"/>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0200" y="4667250"/>
            <a:ext cx="722365" cy="593883"/>
          </a:xfrm>
          <a:prstGeom prst="rect">
            <a:avLst/>
          </a:prstGeom>
          <a:noFill/>
        </p:spPr>
        <p:txBody>
          <a:bodyPr wrap="none" lIns="0" tIns="0" rIns="0" bIns="0">
            <a:spAutoFit/>
          </a:bodyPr>
          <a:lstStyle/>
          <a:p>
            <a:pPr>
              <a:defRPr sz="3225" b="1">
                <a:solidFill>
                  <a:srgbClr val="087F83"/>
                </a:solidFill>
                <a:latin typeface="DejaVu Sans"/>
              </a:defRPr>
            </a:pPr>
            <a:r>
              <a:t>25</a:t>
            </a:r>
          </a:p>
        </p:txBody>
      </p:sp>
      <p:sp>
        <p:nvSpPr>
          <p:cNvPr id="45" name="TextBox 44"/>
          <p:cNvSpPr txBox="1"/>
          <p:nvPr/>
        </p:nvSpPr>
        <p:spPr>
          <a:xfrm>
            <a:off x="9220200" y="5238750"/>
            <a:ext cx="1823274" cy="303847"/>
          </a:xfrm>
          <a:prstGeom prst="rect">
            <a:avLst/>
          </a:prstGeom>
          <a:noFill/>
        </p:spPr>
        <p:txBody>
          <a:bodyPr wrap="none" lIns="0" tIns="0" rIns="0" bIns="0">
            <a:spAutoFit/>
          </a:bodyPr>
          <a:lstStyle/>
          <a:p>
            <a:pPr>
              <a:defRPr sz="1650" b="0">
                <a:solidFill>
                  <a:srgbClr val="152A3B"/>
                </a:solidFill>
                <a:latin typeface="DejaVu Sans"/>
              </a:defRPr>
            </a:pPr>
            <a:r>
              <a:t>preregistrations</a:t>
            </a:r>
          </a:p>
        </p:txBody>
      </p:sp>
      <p:sp>
        <p:nvSpPr>
          <p:cNvPr id="46" name="TextBox 45"/>
          <p:cNvSpPr txBox="1"/>
          <p:nvPr/>
        </p:nvSpPr>
        <p:spPr>
          <a:xfrm>
            <a:off x="514350" y="5924550"/>
            <a:ext cx="6301359" cy="234791"/>
          </a:xfrm>
          <a:prstGeom prst="rect">
            <a:avLst/>
          </a:prstGeom>
          <a:noFill/>
        </p:spPr>
        <p:txBody>
          <a:bodyPr wrap="none" lIns="0" tIns="0" rIns="0" bIns="0">
            <a:spAutoFit/>
          </a:bodyPr>
          <a:lstStyle/>
          <a:p>
            <a:pPr>
              <a:defRPr sz="1275" b="0">
                <a:solidFill>
                  <a:srgbClr val="506371"/>
                </a:solidFill>
                <a:latin typeface="DejaVu Sans"/>
              </a:defRPr>
            </a:pPr>
            <a:r>
              <a:t>Repository snapshot 557bf38 · 48,468 physical Python lines, including tests</a:t>
            </a:r>
          </a:p>
        </p:txBody>
      </p:sp>
      <p:sp>
        <p:nvSpPr>
          <p:cNvPr id="47" name="TextBox 46"/>
          <p:cNvSpPr txBox="1"/>
          <p:nvPr/>
        </p:nvSpPr>
        <p:spPr>
          <a:xfrm>
            <a:off x="514350" y="6162675"/>
            <a:ext cx="3347888" cy="234791"/>
          </a:xfrm>
          <a:prstGeom prst="rect">
            <a:avLst/>
          </a:prstGeom>
          <a:noFill/>
        </p:spPr>
        <p:txBody>
          <a:bodyPr wrap="none" lIns="0" tIns="0" rIns="0" bIns="0">
            <a:spAutoFit/>
          </a:bodyPr>
          <a:lstStyle/>
          <a:p>
            <a:pPr>
              <a:defRPr sz="1275" b="0">
                <a:solidFill>
                  <a:srgbClr val="506371"/>
                </a:solidFill>
                <a:latin typeface="DejaVu Sans"/>
              </a:defRPr>
            </a:pPr>
            <a:r>
              <a:t>Research code and experiment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6515100"/>
            <a:ext cx="2811353" cy="207168"/>
          </a:xfrm>
          <a:prstGeom prst="rect">
            <a:avLst/>
          </a:prstGeom>
          <a:noFill/>
        </p:spPr>
        <p:txBody>
          <a:bodyPr wrap="none" lIns="0" tIns="0" rIns="0" bIns="0">
            <a:spAutoFit/>
          </a:bodyPr>
          <a:lstStyle/>
          <a:p>
            <a:pPr>
              <a:defRPr sz="1125" b="0">
                <a:solidFill>
                  <a:srgbClr val="506371"/>
                </a:solidFill>
                <a:latin typeface="DejaVu Sans"/>
              </a:defRPr>
            </a:pPr>
            <a:r>
              <a:t>ADML   ·   FinNLP 2026   ·   FinNLP-65</a:t>
            </a:r>
          </a:p>
        </p:txBody>
      </p:sp>
      <p:sp>
        <p:nvSpPr>
          <p:cNvPr id="4" name="TextBox 3"/>
          <p:cNvSpPr txBox="1"/>
          <p:nvPr/>
        </p:nvSpPr>
        <p:spPr>
          <a:xfrm>
            <a:off x="11029950" y="6515100"/>
            <a:ext cx="654973" cy="207168"/>
          </a:xfrm>
          <a:prstGeom prst="rect">
            <a:avLst/>
          </a:prstGeom>
          <a:noFill/>
        </p:spPr>
        <p:txBody>
          <a:bodyPr wrap="none" lIns="0" tIns="0" rIns="0" bIns="0">
            <a:spAutoFit/>
          </a:bodyPr>
          <a:lstStyle/>
          <a:p>
            <a:pPr>
              <a:defRPr sz="1125" b="0">
                <a:solidFill>
                  <a:srgbClr val="506371"/>
                </a:solidFill>
                <a:latin typeface="DejaVu Sans"/>
              </a:defRPr>
            </a:pPr>
            <a:r>
              <a:t>03 / 06</a:t>
            </a:r>
          </a:p>
        </p:txBody>
      </p:sp>
      <p:sp>
        <p:nvSpPr>
          <p:cNvPr id="5" name="TextBox 4"/>
          <p:cNvSpPr txBox="1"/>
          <p:nvPr/>
        </p:nvSpPr>
        <p:spPr>
          <a:xfrm>
            <a:off x="514350" y="352425"/>
            <a:ext cx="3837988" cy="248602"/>
          </a:xfrm>
          <a:prstGeom prst="rect">
            <a:avLst/>
          </a:prstGeom>
          <a:noFill/>
        </p:spPr>
        <p:txBody>
          <a:bodyPr wrap="none" lIns="0" tIns="0" rIns="0" bIns="0">
            <a:spAutoFit/>
          </a:bodyPr>
          <a:lstStyle/>
          <a:p>
            <a:pPr>
              <a:defRPr sz="1350" b="1">
                <a:solidFill>
                  <a:srgbClr val="087F83"/>
                </a:solidFill>
                <a:latin typeface="DejaVu Sans"/>
              </a:defRPr>
            </a:pPr>
            <a:r>
              <a:t>SYSTEMS DESIGNED FOR NEW INPUTS</a:t>
            </a:r>
          </a:p>
        </p:txBody>
      </p:sp>
      <p:sp>
        <p:nvSpPr>
          <p:cNvPr id="6" name="TextBox 5"/>
          <p:cNvSpPr txBox="1"/>
          <p:nvPr/>
        </p:nvSpPr>
        <p:spPr>
          <a:xfrm>
            <a:off x="514350" y="771525"/>
            <a:ext cx="8281206" cy="552450"/>
          </a:xfrm>
          <a:prstGeom prst="rect">
            <a:avLst/>
          </a:prstGeom>
          <a:noFill/>
        </p:spPr>
        <p:txBody>
          <a:bodyPr wrap="none" lIns="0" tIns="0" rIns="0" bIns="0">
            <a:spAutoFit/>
          </a:bodyPr>
          <a:lstStyle/>
          <a:p>
            <a:pPr>
              <a:defRPr sz="3000" b="1">
                <a:solidFill>
                  <a:srgbClr val="152A3B"/>
                </a:solidFill>
                <a:latin typeface="DejaVu Sans"/>
              </a:defRPr>
            </a:pPr>
            <a:r>
              <a:t>Models we tried and changes we kept</a:t>
            </a:r>
          </a:p>
        </p:txBody>
      </p:sp>
      <p:sp>
        <p:nvSpPr>
          <p:cNvPr id="7" name="Rectangle 6"/>
          <p:cNvSpPr/>
          <p:nvPr/>
        </p:nvSpPr>
        <p:spPr>
          <a:xfrm>
            <a:off x="514350" y="1362075"/>
            <a:ext cx="11163300" cy="28575"/>
          </a:xfrm>
          <a:prstGeom prst="rect">
            <a:avLst/>
          </a:prstGeom>
          <a:solidFill>
            <a:srgbClr val="D6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4350" y="1676400"/>
            <a:ext cx="3543300" cy="2676525"/>
          </a:xfrm>
          <a:prstGeom prst="roundRect">
            <a:avLst>
              <a:gd name="adj" fmla="val 3558"/>
            </a:avLst>
          </a:prstGeom>
          <a:solidFill>
            <a:srgbClr val="E9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1876425"/>
            <a:ext cx="1802466" cy="400526"/>
          </a:xfrm>
          <a:prstGeom prst="rect">
            <a:avLst/>
          </a:prstGeom>
          <a:noFill/>
        </p:spPr>
        <p:txBody>
          <a:bodyPr wrap="none" lIns="0" tIns="0" rIns="0" bIns="0">
            <a:spAutoFit/>
          </a:bodyPr>
          <a:lstStyle/>
          <a:p>
            <a:pPr>
              <a:defRPr sz="2175" b="1">
                <a:solidFill>
                  <a:srgbClr val="087F83"/>
                </a:solidFill>
                <a:latin typeface="DejaVu Sans"/>
              </a:defRPr>
            </a:pPr>
            <a:r>
              <a:t>Greek NER</a:t>
            </a:r>
          </a:p>
        </p:txBody>
      </p:sp>
      <p:sp>
        <p:nvSpPr>
          <p:cNvPr id="10" name="TextBox 9"/>
          <p:cNvSpPr txBox="1"/>
          <p:nvPr/>
        </p:nvSpPr>
        <p:spPr>
          <a:xfrm>
            <a:off x="723900" y="2362200"/>
            <a:ext cx="2933118" cy="290036"/>
          </a:xfrm>
          <a:prstGeom prst="rect">
            <a:avLst/>
          </a:prstGeom>
          <a:noFill/>
        </p:spPr>
        <p:txBody>
          <a:bodyPr wrap="none" lIns="0" tIns="0" rIns="0" bIns="0">
            <a:spAutoFit/>
          </a:bodyPr>
          <a:lstStyle/>
          <a:p>
            <a:pPr>
              <a:defRPr sz="1575" b="0">
                <a:solidFill>
                  <a:srgbClr val="152A3B"/>
                </a:solidFill>
                <a:latin typeface="DejaVu Sans"/>
              </a:defRPr>
            </a:pPr>
            <a:r>
              <a:t>GreekBERT · legal encoders</a:t>
            </a:r>
          </a:p>
        </p:txBody>
      </p:sp>
      <p:sp>
        <p:nvSpPr>
          <p:cNvPr id="11" name="TextBox 10"/>
          <p:cNvSpPr txBox="1"/>
          <p:nvPr/>
        </p:nvSpPr>
        <p:spPr>
          <a:xfrm>
            <a:off x="723900" y="2657475"/>
            <a:ext cx="1712360" cy="290036"/>
          </a:xfrm>
          <a:prstGeom prst="rect">
            <a:avLst/>
          </a:prstGeom>
          <a:noFill/>
        </p:spPr>
        <p:txBody>
          <a:bodyPr wrap="none" lIns="0" tIns="0" rIns="0" bIns="0">
            <a:spAutoFit/>
          </a:bodyPr>
          <a:lstStyle/>
          <a:p>
            <a:pPr>
              <a:defRPr sz="1575" b="0">
                <a:solidFill>
                  <a:srgbClr val="152A3B"/>
                </a:solidFill>
                <a:latin typeface="DejaVu Sans"/>
              </a:defRPr>
            </a:pPr>
            <a:r>
              <a:t>XLM-R · GLiNER</a:t>
            </a:r>
          </a:p>
        </p:txBody>
      </p:sp>
      <p:sp>
        <p:nvSpPr>
          <p:cNvPr id="12" name="TextBox 11"/>
          <p:cNvSpPr txBox="1"/>
          <p:nvPr/>
        </p:nvSpPr>
        <p:spPr>
          <a:xfrm>
            <a:off x="723900" y="3209925"/>
            <a:ext cx="2329778" cy="317658"/>
          </a:xfrm>
          <a:prstGeom prst="rect">
            <a:avLst/>
          </a:prstGeom>
          <a:noFill/>
        </p:spPr>
        <p:txBody>
          <a:bodyPr wrap="none" lIns="0" tIns="0" rIns="0" bIns="0">
            <a:spAutoFit/>
          </a:bodyPr>
          <a:lstStyle/>
          <a:p>
            <a:pPr>
              <a:defRPr sz="1725" b="0">
                <a:solidFill>
                  <a:srgbClr val="152A3B"/>
                </a:solidFill>
                <a:latin typeface="DejaVu Sans"/>
              </a:defRPr>
            </a:pPr>
            <a:r>
              <a:t>Numeric processing</a:t>
            </a:r>
          </a:p>
        </p:txBody>
      </p:sp>
      <p:sp>
        <p:nvSpPr>
          <p:cNvPr id="13" name="TextBox 12"/>
          <p:cNvSpPr txBox="1"/>
          <p:nvPr/>
        </p:nvSpPr>
        <p:spPr>
          <a:xfrm>
            <a:off x="723900" y="3533775"/>
            <a:ext cx="1921473" cy="317658"/>
          </a:xfrm>
          <a:prstGeom prst="rect">
            <a:avLst/>
          </a:prstGeom>
          <a:noFill/>
        </p:spPr>
        <p:txBody>
          <a:bodyPr wrap="none" lIns="0" tIns="0" rIns="0" bIns="0">
            <a:spAutoFit/>
          </a:bodyPr>
          <a:lstStyle/>
          <a:p>
            <a:pPr>
              <a:defRPr sz="1725" b="0">
                <a:solidFill>
                  <a:srgbClr val="152A3B"/>
                </a:solidFill>
                <a:latin typeface="DejaVu Sans"/>
              </a:defRPr>
            </a:pPr>
            <a:r>
              <a:t>Span consensus</a:t>
            </a:r>
          </a:p>
        </p:txBody>
      </p:sp>
      <p:sp>
        <p:nvSpPr>
          <p:cNvPr id="14" name="TextBox 13"/>
          <p:cNvSpPr txBox="1"/>
          <p:nvPr/>
        </p:nvSpPr>
        <p:spPr>
          <a:xfrm>
            <a:off x="723900" y="3857625"/>
            <a:ext cx="2425196" cy="317658"/>
          </a:xfrm>
          <a:prstGeom prst="rect">
            <a:avLst/>
          </a:prstGeom>
          <a:noFill/>
        </p:spPr>
        <p:txBody>
          <a:bodyPr wrap="none" lIns="0" tIns="0" rIns="0" bIns="0">
            <a:spAutoFit/>
          </a:bodyPr>
          <a:lstStyle/>
          <a:p>
            <a:pPr>
              <a:defRPr sz="1725" b="0">
                <a:solidFill>
                  <a:srgbClr val="152A3B"/>
                </a:solidFill>
                <a:latin typeface="DejaVu Sans"/>
              </a:defRPr>
            </a:pPr>
            <a:r>
              <a:t>Conservative repairs</a:t>
            </a:r>
          </a:p>
        </p:txBody>
      </p:sp>
      <p:sp>
        <p:nvSpPr>
          <p:cNvPr id="15" name="Rounded Rectangle 14"/>
          <p:cNvSpPr/>
          <p:nvPr/>
        </p:nvSpPr>
        <p:spPr>
          <a:xfrm>
            <a:off x="4324350" y="1676400"/>
            <a:ext cx="3543300" cy="2676525"/>
          </a:xfrm>
          <a:prstGeom prst="roundRect">
            <a:avLst>
              <a:gd name="adj" fmla="val 3558"/>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3900" y="1876425"/>
            <a:ext cx="2175802" cy="400526"/>
          </a:xfrm>
          <a:prstGeom prst="rect">
            <a:avLst/>
          </a:prstGeom>
          <a:noFill/>
        </p:spPr>
        <p:txBody>
          <a:bodyPr wrap="none" lIns="0" tIns="0" rIns="0" bIns="0">
            <a:spAutoFit/>
          </a:bodyPr>
          <a:lstStyle/>
          <a:p>
            <a:pPr>
              <a:defRPr sz="2175" b="1">
                <a:solidFill>
                  <a:srgbClr val="087F83"/>
                </a:solidFill>
                <a:latin typeface="DejaVu Sans"/>
              </a:defRPr>
            </a:pPr>
            <a:r>
              <a:t>Japanese ICR</a:t>
            </a:r>
          </a:p>
        </p:txBody>
      </p:sp>
      <p:sp>
        <p:nvSpPr>
          <p:cNvPr id="17" name="TextBox 16"/>
          <p:cNvSpPr txBox="1"/>
          <p:nvPr/>
        </p:nvSpPr>
        <p:spPr>
          <a:xfrm>
            <a:off x="4533900" y="2362200"/>
            <a:ext cx="2410885" cy="290036"/>
          </a:xfrm>
          <a:prstGeom prst="rect">
            <a:avLst/>
          </a:prstGeom>
          <a:noFill/>
        </p:spPr>
        <p:txBody>
          <a:bodyPr wrap="none" lIns="0" tIns="0" rIns="0" bIns="0">
            <a:spAutoFit/>
          </a:bodyPr>
          <a:lstStyle/>
          <a:p>
            <a:pPr>
              <a:defRPr sz="1575" b="0">
                <a:solidFill>
                  <a:srgbClr val="152A3B"/>
                </a:solidFill>
                <a:latin typeface="DejaVu Sans"/>
              </a:defRPr>
            </a:pPr>
            <a:r>
              <a:t>BERT · Rinna RoBERTa</a:t>
            </a:r>
          </a:p>
        </p:txBody>
      </p:sp>
      <p:sp>
        <p:nvSpPr>
          <p:cNvPr id="18" name="TextBox 17"/>
          <p:cNvSpPr txBox="1"/>
          <p:nvPr/>
        </p:nvSpPr>
        <p:spPr>
          <a:xfrm>
            <a:off x="4533900" y="2657475"/>
            <a:ext cx="2949722" cy="290036"/>
          </a:xfrm>
          <a:prstGeom prst="rect">
            <a:avLst/>
          </a:prstGeom>
          <a:noFill/>
        </p:spPr>
        <p:txBody>
          <a:bodyPr wrap="none" lIns="0" tIns="0" rIns="0" bIns="0">
            <a:spAutoFit/>
          </a:bodyPr>
          <a:lstStyle/>
          <a:p>
            <a:pPr>
              <a:defRPr sz="1575" b="0">
                <a:solidFill>
                  <a:srgbClr val="152A3B"/>
                </a:solidFill>
                <a:latin typeface="DejaVu Sans"/>
              </a:defRPr>
            </a:pPr>
            <a:r>
              <a:t>ModernBERT · Nemotron 9B</a:t>
            </a:r>
          </a:p>
        </p:txBody>
      </p:sp>
      <p:sp>
        <p:nvSpPr>
          <p:cNvPr id="19" name="TextBox 18"/>
          <p:cNvSpPr txBox="1"/>
          <p:nvPr/>
        </p:nvSpPr>
        <p:spPr>
          <a:xfrm>
            <a:off x="4533900" y="3209925"/>
            <a:ext cx="2258536" cy="317658"/>
          </a:xfrm>
          <a:prstGeom prst="rect">
            <a:avLst/>
          </a:prstGeom>
          <a:noFill/>
        </p:spPr>
        <p:txBody>
          <a:bodyPr wrap="none" lIns="0" tIns="0" rIns="0" bIns="0">
            <a:spAutoFit/>
          </a:bodyPr>
          <a:lstStyle/>
          <a:p>
            <a:pPr>
              <a:defRPr sz="1725" b="0">
                <a:solidFill>
                  <a:srgbClr val="152A3B"/>
                </a:solidFill>
                <a:latin typeface="DejaVu Sans"/>
              </a:defRPr>
            </a:pPr>
            <a:r>
              <a:t>Domain adaptation</a:t>
            </a:r>
          </a:p>
        </p:txBody>
      </p:sp>
      <p:sp>
        <p:nvSpPr>
          <p:cNvPr id="20" name="TextBox 19"/>
          <p:cNvSpPr txBox="1"/>
          <p:nvPr/>
        </p:nvSpPr>
        <p:spPr>
          <a:xfrm>
            <a:off x="4533900" y="3533775"/>
            <a:ext cx="2024592" cy="317658"/>
          </a:xfrm>
          <a:prstGeom prst="rect">
            <a:avLst/>
          </a:prstGeom>
          <a:noFill/>
        </p:spPr>
        <p:txBody>
          <a:bodyPr wrap="none" lIns="0" tIns="0" rIns="0" bIns="0">
            <a:spAutoFit/>
          </a:bodyPr>
          <a:lstStyle/>
          <a:p>
            <a:pPr>
              <a:defRPr sz="1725" b="0">
                <a:solidFill>
                  <a:srgbClr val="152A3B"/>
                </a:solidFill>
                <a:latin typeface="DejaVu Sans"/>
              </a:defRPr>
            </a:pPr>
            <a:r>
              <a:t>Ordinal decoding</a:t>
            </a:r>
          </a:p>
        </p:txBody>
      </p:sp>
      <p:sp>
        <p:nvSpPr>
          <p:cNvPr id="21" name="TextBox 20"/>
          <p:cNvSpPr txBox="1"/>
          <p:nvPr/>
        </p:nvSpPr>
        <p:spPr>
          <a:xfrm>
            <a:off x="4533900" y="3857625"/>
            <a:ext cx="2580944" cy="317658"/>
          </a:xfrm>
          <a:prstGeom prst="rect">
            <a:avLst/>
          </a:prstGeom>
          <a:noFill/>
        </p:spPr>
        <p:txBody>
          <a:bodyPr wrap="none" lIns="0" tIns="0" rIns="0" bIns="0">
            <a:spAutoFit/>
          </a:bodyPr>
          <a:lstStyle/>
          <a:p>
            <a:pPr>
              <a:defRPr sz="1725" b="0">
                <a:solidFill>
                  <a:srgbClr val="152A3B"/>
                </a:solidFill>
                <a:latin typeface="DejaVu Sans"/>
              </a:defRPr>
            </a:pPr>
            <a:r>
              <a:t>Additional supervision</a:t>
            </a:r>
          </a:p>
        </p:txBody>
      </p:sp>
      <p:sp>
        <p:nvSpPr>
          <p:cNvPr id="22" name="Rounded Rectangle 21"/>
          <p:cNvSpPr/>
          <p:nvPr/>
        </p:nvSpPr>
        <p:spPr>
          <a:xfrm>
            <a:off x="8134350" y="1676400"/>
            <a:ext cx="3543300" cy="2676525"/>
          </a:xfrm>
          <a:prstGeom prst="roundRect">
            <a:avLst>
              <a:gd name="adj" fmla="val 3558"/>
            </a:avLst>
          </a:prstGeom>
          <a:solidFill>
            <a:srgbClr val="E9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3900" y="1876425"/>
            <a:ext cx="2551565" cy="400526"/>
          </a:xfrm>
          <a:prstGeom prst="rect">
            <a:avLst/>
          </a:prstGeom>
          <a:noFill/>
        </p:spPr>
        <p:txBody>
          <a:bodyPr wrap="none" lIns="0" tIns="0" rIns="0" bIns="0">
            <a:spAutoFit/>
          </a:bodyPr>
          <a:lstStyle/>
          <a:p>
            <a:pPr>
              <a:defRPr sz="2175" b="1">
                <a:solidFill>
                  <a:srgbClr val="087F83"/>
                </a:solidFill>
                <a:latin typeface="DejaVu Sans"/>
              </a:defRPr>
            </a:pPr>
            <a:r>
              <a:t>Multilingual QA</a:t>
            </a:r>
          </a:p>
        </p:txBody>
      </p:sp>
      <p:sp>
        <p:nvSpPr>
          <p:cNvPr id="24" name="TextBox 23"/>
          <p:cNvSpPr txBox="1"/>
          <p:nvPr/>
        </p:nvSpPr>
        <p:spPr>
          <a:xfrm>
            <a:off x="8343900" y="2362200"/>
            <a:ext cx="2651052" cy="290036"/>
          </a:xfrm>
          <a:prstGeom prst="rect">
            <a:avLst/>
          </a:prstGeom>
          <a:noFill/>
        </p:spPr>
        <p:txBody>
          <a:bodyPr wrap="none" lIns="0" tIns="0" rIns="0" bIns="0">
            <a:spAutoFit/>
          </a:bodyPr>
          <a:lstStyle/>
          <a:p>
            <a:pPr>
              <a:defRPr sz="1575" b="0">
                <a:solidFill>
                  <a:srgbClr val="152A3B"/>
                </a:solidFill>
                <a:latin typeface="DejaVu Sans"/>
              </a:defRPr>
            </a:pPr>
            <a:r>
              <a:t>Eva 4B · Qwen 27B / 35B</a:t>
            </a:r>
          </a:p>
        </p:txBody>
      </p:sp>
      <p:sp>
        <p:nvSpPr>
          <p:cNvPr id="25" name="TextBox 24"/>
          <p:cNvSpPr txBox="1"/>
          <p:nvPr/>
        </p:nvSpPr>
        <p:spPr>
          <a:xfrm>
            <a:off x="8343900" y="2657475"/>
            <a:ext cx="2696663" cy="290036"/>
          </a:xfrm>
          <a:prstGeom prst="rect">
            <a:avLst/>
          </a:prstGeom>
          <a:noFill/>
        </p:spPr>
        <p:txBody>
          <a:bodyPr wrap="none" lIns="0" tIns="0" rIns="0" bIns="0">
            <a:spAutoFit/>
          </a:bodyPr>
          <a:lstStyle/>
          <a:p>
            <a:pPr>
              <a:defRPr sz="1575" b="0">
                <a:solidFill>
                  <a:srgbClr val="152A3B"/>
                </a:solidFill>
                <a:latin typeface="DejaVu Sans"/>
              </a:defRPr>
            </a:pPr>
            <a:r>
              <a:t>Qwen 35B / 57B planners</a:t>
            </a:r>
          </a:p>
        </p:txBody>
      </p:sp>
      <p:sp>
        <p:nvSpPr>
          <p:cNvPr id="26" name="TextBox 25"/>
          <p:cNvSpPr txBox="1"/>
          <p:nvPr/>
        </p:nvSpPr>
        <p:spPr>
          <a:xfrm>
            <a:off x="8343900" y="3209925"/>
            <a:ext cx="2426265" cy="317658"/>
          </a:xfrm>
          <a:prstGeom prst="rect">
            <a:avLst/>
          </a:prstGeom>
          <a:noFill/>
        </p:spPr>
        <p:txBody>
          <a:bodyPr wrap="none" lIns="0" tIns="0" rIns="0" bIns="0">
            <a:spAutoFit/>
          </a:bodyPr>
          <a:lstStyle/>
          <a:p>
            <a:pPr>
              <a:defRPr sz="1725" b="0">
                <a:solidFill>
                  <a:srgbClr val="152A3B"/>
                </a:solidFill>
                <a:latin typeface="DejaVu Sans"/>
              </a:defRPr>
            </a:pPr>
            <a:r>
              <a:t>Typed financial facts</a:t>
            </a:r>
          </a:p>
        </p:txBody>
      </p:sp>
      <p:sp>
        <p:nvSpPr>
          <p:cNvPr id="27" name="TextBox 26"/>
          <p:cNvSpPr txBox="1"/>
          <p:nvPr/>
        </p:nvSpPr>
        <p:spPr>
          <a:xfrm>
            <a:off x="8343900" y="3533775"/>
            <a:ext cx="2910947" cy="317658"/>
          </a:xfrm>
          <a:prstGeom prst="rect">
            <a:avLst/>
          </a:prstGeom>
          <a:noFill/>
        </p:spPr>
        <p:txBody>
          <a:bodyPr wrap="none" lIns="0" tIns="0" rIns="0" bIns="0">
            <a:spAutoFit/>
          </a:bodyPr>
          <a:lstStyle/>
          <a:p>
            <a:pPr>
              <a:defRPr sz="1725" b="0">
                <a:solidFill>
                  <a:srgbClr val="152A3B"/>
                </a:solidFill>
                <a:latin typeface="DejaVu Sans"/>
              </a:defRPr>
            </a:pPr>
            <a:r>
              <a:t>Arithmetic + provenance</a:t>
            </a:r>
          </a:p>
        </p:txBody>
      </p:sp>
      <p:sp>
        <p:nvSpPr>
          <p:cNvPr id="28" name="TextBox 27"/>
          <p:cNvSpPr txBox="1"/>
          <p:nvPr/>
        </p:nvSpPr>
        <p:spPr>
          <a:xfrm>
            <a:off x="8343900" y="3857625"/>
            <a:ext cx="2637318" cy="317658"/>
          </a:xfrm>
          <a:prstGeom prst="rect">
            <a:avLst/>
          </a:prstGeom>
          <a:noFill/>
        </p:spPr>
        <p:txBody>
          <a:bodyPr wrap="none" lIns="0" tIns="0" rIns="0" bIns="0">
            <a:spAutoFit/>
          </a:bodyPr>
          <a:lstStyle/>
          <a:p>
            <a:pPr>
              <a:defRPr sz="1725" b="0">
                <a:solidFill>
                  <a:srgbClr val="152A3B"/>
                </a:solidFill>
                <a:latin typeface="DejaVu Sans"/>
              </a:defRPr>
            </a:pPr>
            <a:r>
              <a:t>Grounded sparse edits</a:t>
            </a:r>
          </a:p>
        </p:txBody>
      </p:sp>
      <p:sp>
        <p:nvSpPr>
          <p:cNvPr id="29" name="Rounded Rectangle 28"/>
          <p:cNvSpPr/>
          <p:nvPr/>
        </p:nvSpPr>
        <p:spPr>
          <a:xfrm>
            <a:off x="514350" y="4543425"/>
            <a:ext cx="11163300" cy="981075"/>
          </a:xfrm>
          <a:prstGeom prst="roundRect">
            <a:avLst>
              <a:gd name="adj" fmla="val 8737"/>
            </a:avLst>
          </a:prstGeom>
          <a:solidFill>
            <a:srgbClr val="FFF2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4375" y="4695825"/>
            <a:ext cx="1032867" cy="234791"/>
          </a:xfrm>
          <a:prstGeom prst="rect">
            <a:avLst/>
          </a:prstGeom>
          <a:noFill/>
        </p:spPr>
        <p:txBody>
          <a:bodyPr wrap="none" lIns="0" tIns="0" rIns="0" bIns="0">
            <a:spAutoFit/>
          </a:bodyPr>
          <a:lstStyle/>
          <a:p>
            <a:pPr>
              <a:defRPr sz="1275" b="1">
                <a:solidFill>
                  <a:srgbClr val="AA5C20"/>
                </a:solidFill>
                <a:latin typeface="DejaVu Sans"/>
              </a:defRPr>
            </a:pPr>
            <a:r>
              <a:t>REJECTED</a:t>
            </a:r>
          </a:p>
        </p:txBody>
      </p:sp>
      <p:sp>
        <p:nvSpPr>
          <p:cNvPr id="31" name="TextBox 30"/>
          <p:cNvSpPr txBox="1"/>
          <p:nvPr/>
        </p:nvSpPr>
        <p:spPr>
          <a:xfrm>
            <a:off x="714375" y="5019675"/>
            <a:ext cx="4870623" cy="331470"/>
          </a:xfrm>
          <a:prstGeom prst="rect">
            <a:avLst/>
          </a:prstGeom>
          <a:noFill/>
        </p:spPr>
        <p:txBody>
          <a:bodyPr wrap="none" lIns="0" tIns="0" rIns="0" bIns="0">
            <a:spAutoFit/>
          </a:bodyPr>
          <a:lstStyle/>
          <a:p>
            <a:pPr>
              <a:defRPr sz="1800" b="1">
                <a:solidFill>
                  <a:srgbClr val="152A3B"/>
                </a:solidFill>
                <a:latin typeface="DejaVu Sans"/>
              </a:defRPr>
            </a:pPr>
            <a:r>
              <a:t>ModernBERT: 5/5 source folds worse</a:t>
            </a:r>
          </a:p>
        </p:txBody>
      </p:sp>
      <p:sp>
        <p:nvSpPr>
          <p:cNvPr id="32" name="TextBox 31"/>
          <p:cNvSpPr txBox="1"/>
          <p:nvPr/>
        </p:nvSpPr>
        <p:spPr>
          <a:xfrm>
            <a:off x="6334125" y="5019675"/>
            <a:ext cx="5159192" cy="303847"/>
          </a:xfrm>
          <a:prstGeom prst="rect">
            <a:avLst/>
          </a:prstGeom>
          <a:noFill/>
        </p:spPr>
        <p:txBody>
          <a:bodyPr wrap="none" lIns="0" tIns="0" rIns="0" bIns="0">
            <a:spAutoFit/>
          </a:bodyPr>
          <a:lstStyle/>
          <a:p>
            <a:pPr>
              <a:defRPr sz="1650" b="1">
                <a:solidFill>
                  <a:srgbClr val="152A3B"/>
                </a:solidFill>
                <a:latin typeface="DejaVu Sans"/>
              </a:defRPr>
            </a:pPr>
            <a:r>
              <a:t>Qwen filter: one issuer exceeds error limit</a:t>
            </a:r>
          </a:p>
        </p:txBody>
      </p:sp>
      <p:sp>
        <p:nvSpPr>
          <p:cNvPr id="33" name="TextBox 32"/>
          <p:cNvSpPr txBox="1"/>
          <p:nvPr/>
        </p:nvSpPr>
        <p:spPr>
          <a:xfrm>
            <a:off x="514350" y="5753100"/>
            <a:ext cx="9450571" cy="317658"/>
          </a:xfrm>
          <a:prstGeom prst="rect">
            <a:avLst/>
          </a:prstGeom>
          <a:noFill/>
        </p:spPr>
        <p:txBody>
          <a:bodyPr wrap="none" lIns="0" tIns="0" rIns="0" bIns="0">
            <a:spAutoFit/>
          </a:bodyPr>
          <a:lstStyle/>
          <a:p>
            <a:pPr>
              <a:defRPr sz="1725" b="1">
                <a:solidFill>
                  <a:srgbClr val="087F83"/>
                </a:solidFill>
                <a:latin typeface="DejaVu Sans"/>
              </a:defRPr>
            </a:pPr>
            <a:r>
              <a:t>A positive result: Greek consensus +4 corrections / 0 new errors (80 rows).</a:t>
            </a:r>
          </a:p>
        </p:txBody>
      </p:sp>
      <p:sp>
        <p:nvSpPr>
          <p:cNvPr id="34" name="TextBox 33"/>
          <p:cNvSpPr txBox="1"/>
          <p:nvPr/>
        </p:nvSpPr>
        <p:spPr>
          <a:xfrm>
            <a:off x="514350" y="6105525"/>
            <a:ext cx="6828248" cy="234791"/>
          </a:xfrm>
          <a:prstGeom prst="rect">
            <a:avLst/>
          </a:prstGeom>
          <a:noFill/>
        </p:spPr>
        <p:txBody>
          <a:bodyPr wrap="none" lIns="0" tIns="0" rIns="0" bIns="0">
            <a:spAutoFit/>
          </a:bodyPr>
          <a:lstStyle/>
          <a:p>
            <a:pPr>
              <a:defRPr sz="1275" b="0">
                <a:solidFill>
                  <a:srgbClr val="506371"/>
                </a:solidFill>
                <a:latin typeface="DejaVu Sans"/>
              </a:defRPr>
            </a:pPr>
            <a:r>
              <a:t>Greek validation repeatedly inspected; each task used its own validation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6515100"/>
            <a:ext cx="2811353" cy="207168"/>
          </a:xfrm>
          <a:prstGeom prst="rect">
            <a:avLst/>
          </a:prstGeom>
          <a:noFill/>
        </p:spPr>
        <p:txBody>
          <a:bodyPr wrap="none" lIns="0" tIns="0" rIns="0" bIns="0">
            <a:spAutoFit/>
          </a:bodyPr>
          <a:lstStyle/>
          <a:p>
            <a:pPr>
              <a:defRPr sz="1125" b="0">
                <a:solidFill>
                  <a:srgbClr val="506371"/>
                </a:solidFill>
                <a:latin typeface="DejaVu Sans"/>
              </a:defRPr>
            </a:pPr>
            <a:r>
              <a:t>ADML   ·   FinNLP 2026   ·   FinNLP-65</a:t>
            </a:r>
          </a:p>
        </p:txBody>
      </p:sp>
      <p:sp>
        <p:nvSpPr>
          <p:cNvPr id="4" name="TextBox 3"/>
          <p:cNvSpPr txBox="1"/>
          <p:nvPr/>
        </p:nvSpPr>
        <p:spPr>
          <a:xfrm>
            <a:off x="11029950" y="6515100"/>
            <a:ext cx="654973" cy="207168"/>
          </a:xfrm>
          <a:prstGeom prst="rect">
            <a:avLst/>
          </a:prstGeom>
          <a:noFill/>
        </p:spPr>
        <p:txBody>
          <a:bodyPr wrap="none" lIns="0" tIns="0" rIns="0" bIns="0">
            <a:spAutoFit/>
          </a:bodyPr>
          <a:lstStyle/>
          <a:p>
            <a:pPr>
              <a:defRPr sz="1125" b="0">
                <a:solidFill>
                  <a:srgbClr val="506371"/>
                </a:solidFill>
                <a:latin typeface="DejaVu Sans"/>
              </a:defRPr>
            </a:pPr>
            <a:r>
              <a:t>04 / 06</a:t>
            </a:r>
          </a:p>
        </p:txBody>
      </p:sp>
      <p:sp>
        <p:nvSpPr>
          <p:cNvPr id="5" name="TextBox 4"/>
          <p:cNvSpPr txBox="1"/>
          <p:nvPr/>
        </p:nvSpPr>
        <p:spPr>
          <a:xfrm>
            <a:off x="514350" y="352425"/>
            <a:ext cx="4542373" cy="248602"/>
          </a:xfrm>
          <a:prstGeom prst="rect">
            <a:avLst/>
          </a:prstGeom>
          <a:noFill/>
        </p:spPr>
        <p:txBody>
          <a:bodyPr wrap="none" lIns="0" tIns="0" rIns="0" bIns="0">
            <a:spAutoFit/>
          </a:bodyPr>
          <a:lstStyle/>
          <a:p>
            <a:pPr>
              <a:defRPr sz="1350" b="1">
                <a:solidFill>
                  <a:srgbClr val="087F83"/>
                </a:solidFill>
                <a:latin typeface="DejaVu Sans"/>
              </a:defRPr>
            </a:pPr>
            <a:r>
              <a:t>QA CASE STUDY · 192 HISTORICAL EXAMPLES</a:t>
            </a:r>
          </a:p>
        </p:txBody>
      </p:sp>
      <p:sp>
        <p:nvSpPr>
          <p:cNvPr id="6" name="TextBox 5"/>
          <p:cNvSpPr txBox="1"/>
          <p:nvPr/>
        </p:nvSpPr>
        <p:spPr>
          <a:xfrm>
            <a:off x="514350" y="771525"/>
            <a:ext cx="6977471" cy="552450"/>
          </a:xfrm>
          <a:prstGeom prst="rect">
            <a:avLst/>
          </a:prstGeom>
          <a:noFill/>
        </p:spPr>
        <p:txBody>
          <a:bodyPr wrap="none" lIns="0" tIns="0" rIns="0" bIns="0">
            <a:spAutoFit/>
          </a:bodyPr>
          <a:lstStyle/>
          <a:p>
            <a:pPr>
              <a:defRPr sz="3000" b="1">
                <a:solidFill>
                  <a:srgbClr val="152A3B"/>
                </a:solidFill>
                <a:latin typeface="DejaVu Sans"/>
              </a:defRPr>
            </a:pPr>
            <a:r>
              <a:t>Choosing which answers to edit</a:t>
            </a:r>
          </a:p>
        </p:txBody>
      </p:sp>
      <p:sp>
        <p:nvSpPr>
          <p:cNvPr id="7" name="Rectangle 6"/>
          <p:cNvSpPr/>
          <p:nvPr/>
        </p:nvSpPr>
        <p:spPr>
          <a:xfrm>
            <a:off x="514350" y="1362075"/>
            <a:ext cx="11163300" cy="28575"/>
          </a:xfrm>
          <a:prstGeom prst="rect">
            <a:avLst/>
          </a:prstGeom>
          <a:solidFill>
            <a:srgbClr val="D6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4350" y="1685925"/>
            <a:ext cx="1378311" cy="262413"/>
          </a:xfrm>
          <a:prstGeom prst="rect">
            <a:avLst/>
          </a:prstGeom>
          <a:noFill/>
        </p:spPr>
        <p:txBody>
          <a:bodyPr wrap="none" lIns="0" tIns="0" rIns="0" bIns="0">
            <a:spAutoFit/>
          </a:bodyPr>
          <a:lstStyle/>
          <a:p>
            <a:pPr>
              <a:defRPr sz="1425" b="1">
                <a:solidFill>
                  <a:srgbClr val="506371"/>
                </a:solidFill>
                <a:latin typeface="DejaVu Sans"/>
              </a:defRPr>
            </a:pPr>
            <a:r>
              <a:t>ROUGE-1 F1</a:t>
            </a:r>
          </a:p>
        </p:txBody>
      </p:sp>
      <p:sp>
        <p:nvSpPr>
          <p:cNvPr id="9" name="TextBox 8"/>
          <p:cNvSpPr txBox="1"/>
          <p:nvPr/>
        </p:nvSpPr>
        <p:spPr>
          <a:xfrm>
            <a:off x="514350" y="2076450"/>
            <a:ext cx="2479537" cy="317658"/>
          </a:xfrm>
          <a:prstGeom prst="rect">
            <a:avLst/>
          </a:prstGeom>
          <a:noFill/>
        </p:spPr>
        <p:txBody>
          <a:bodyPr wrap="none" lIns="0" tIns="0" rIns="0" bIns="0">
            <a:spAutoFit/>
          </a:bodyPr>
          <a:lstStyle/>
          <a:p>
            <a:pPr>
              <a:defRPr sz="1725" b="1">
                <a:solidFill>
                  <a:srgbClr val="152A3B"/>
                </a:solidFill>
                <a:latin typeface="DejaVu Sans"/>
              </a:defRPr>
            </a:pPr>
            <a:r>
              <a:t>Grounded baseline</a:t>
            </a:r>
          </a:p>
        </p:txBody>
      </p:sp>
      <p:sp>
        <p:nvSpPr>
          <p:cNvPr id="10" name="Rounded Rectangle 9"/>
          <p:cNvSpPr/>
          <p:nvPr/>
        </p:nvSpPr>
        <p:spPr>
          <a:xfrm>
            <a:off x="514350" y="2438400"/>
            <a:ext cx="5543550" cy="276225"/>
          </a:xfrm>
          <a:prstGeom prst="roundRect">
            <a:avLst>
              <a:gd name="adj" fmla="val 10000"/>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350" y="2438400"/>
            <a:ext cx="4499416" cy="276225"/>
          </a:xfrm>
          <a:prstGeom prst="roundRect">
            <a:avLst>
              <a:gd name="adj" fmla="val 10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8875" y="2362200"/>
            <a:ext cx="1108053" cy="359092"/>
          </a:xfrm>
          <a:prstGeom prst="rect">
            <a:avLst/>
          </a:prstGeom>
          <a:noFill/>
        </p:spPr>
        <p:txBody>
          <a:bodyPr wrap="none" lIns="0" tIns="0" rIns="0" bIns="0">
            <a:spAutoFit/>
          </a:bodyPr>
          <a:lstStyle/>
          <a:p>
            <a:pPr>
              <a:defRPr sz="1950" b="1">
                <a:solidFill>
                  <a:srgbClr val="087F83"/>
                </a:solidFill>
                <a:latin typeface="DejaVu Sans"/>
              </a:defRPr>
            </a:pPr>
            <a:r>
              <a:t>0.3652</a:t>
            </a:r>
          </a:p>
        </p:txBody>
      </p:sp>
      <p:sp>
        <p:nvSpPr>
          <p:cNvPr id="13" name="TextBox 12"/>
          <p:cNvSpPr txBox="1"/>
          <p:nvPr/>
        </p:nvSpPr>
        <p:spPr>
          <a:xfrm>
            <a:off x="514350" y="3076575"/>
            <a:ext cx="3086379" cy="317658"/>
          </a:xfrm>
          <a:prstGeom prst="rect">
            <a:avLst/>
          </a:prstGeom>
          <a:noFill/>
        </p:spPr>
        <p:txBody>
          <a:bodyPr wrap="none" lIns="0" tIns="0" rIns="0" bIns="0">
            <a:spAutoFit/>
          </a:bodyPr>
          <a:lstStyle/>
          <a:p>
            <a:pPr>
              <a:defRPr sz="1725" b="1">
                <a:solidFill>
                  <a:srgbClr val="152A3B"/>
                </a:solidFill>
                <a:latin typeface="DejaVu Sans"/>
              </a:defRPr>
            </a:pPr>
            <a:r>
              <a:t>Reference-aware oracle</a:t>
            </a:r>
          </a:p>
        </p:txBody>
      </p:sp>
      <p:sp>
        <p:nvSpPr>
          <p:cNvPr id="14" name="Rounded Rectangle 13"/>
          <p:cNvSpPr/>
          <p:nvPr/>
        </p:nvSpPr>
        <p:spPr>
          <a:xfrm>
            <a:off x="514350" y="3438525"/>
            <a:ext cx="5543550" cy="276225"/>
          </a:xfrm>
          <a:prstGeom prst="roundRect">
            <a:avLst>
              <a:gd name="adj" fmla="val 10000"/>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4350" y="3438525"/>
            <a:ext cx="4963943" cy="276225"/>
          </a:xfrm>
          <a:prstGeom prst="roundRect">
            <a:avLst>
              <a:gd name="adj" fmla="val 10000"/>
            </a:avLst>
          </a:prstGeom>
          <a:solidFill>
            <a:srgbClr val="AA5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8875" y="3362325"/>
            <a:ext cx="1108053" cy="359092"/>
          </a:xfrm>
          <a:prstGeom prst="rect">
            <a:avLst/>
          </a:prstGeom>
          <a:noFill/>
        </p:spPr>
        <p:txBody>
          <a:bodyPr wrap="none" lIns="0" tIns="0" rIns="0" bIns="0">
            <a:spAutoFit/>
          </a:bodyPr>
          <a:lstStyle/>
          <a:p>
            <a:pPr>
              <a:defRPr sz="1950" b="1">
                <a:solidFill>
                  <a:srgbClr val="AA5C20"/>
                </a:solidFill>
                <a:latin typeface="DejaVu Sans"/>
              </a:defRPr>
            </a:pPr>
            <a:r>
              <a:t>0.4030</a:t>
            </a:r>
          </a:p>
        </p:txBody>
      </p:sp>
      <p:sp>
        <p:nvSpPr>
          <p:cNvPr id="17" name="TextBox 16"/>
          <p:cNvSpPr txBox="1"/>
          <p:nvPr/>
        </p:nvSpPr>
        <p:spPr>
          <a:xfrm>
            <a:off x="514350" y="4076699"/>
            <a:ext cx="3211748" cy="317658"/>
          </a:xfrm>
          <a:prstGeom prst="rect">
            <a:avLst/>
          </a:prstGeom>
          <a:noFill/>
        </p:spPr>
        <p:txBody>
          <a:bodyPr wrap="none" lIns="0" tIns="0" rIns="0" bIns="0">
            <a:spAutoFit/>
          </a:bodyPr>
          <a:lstStyle/>
          <a:p>
            <a:pPr>
              <a:defRPr sz="1725" b="1">
                <a:solidFill>
                  <a:srgbClr val="152A3B"/>
                </a:solidFill>
                <a:latin typeface="DejaVu Sans"/>
              </a:defRPr>
            </a:pPr>
            <a:r>
              <a:t>Nested held-out selector</a:t>
            </a:r>
          </a:p>
        </p:txBody>
      </p:sp>
      <p:sp>
        <p:nvSpPr>
          <p:cNvPr id="18" name="Rounded Rectangle 17"/>
          <p:cNvSpPr/>
          <p:nvPr/>
        </p:nvSpPr>
        <p:spPr>
          <a:xfrm>
            <a:off x="514350" y="4438650"/>
            <a:ext cx="5543550" cy="276225"/>
          </a:xfrm>
          <a:prstGeom prst="roundRect">
            <a:avLst>
              <a:gd name="adj" fmla="val 10000"/>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4350" y="4438650"/>
            <a:ext cx="4499416" cy="276225"/>
          </a:xfrm>
          <a:prstGeom prst="roundRect">
            <a:avLst>
              <a:gd name="adj" fmla="val 10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8875" y="4362450"/>
            <a:ext cx="1108053" cy="359092"/>
          </a:xfrm>
          <a:prstGeom prst="rect">
            <a:avLst/>
          </a:prstGeom>
          <a:noFill/>
        </p:spPr>
        <p:txBody>
          <a:bodyPr wrap="none" lIns="0" tIns="0" rIns="0" bIns="0">
            <a:spAutoFit/>
          </a:bodyPr>
          <a:lstStyle/>
          <a:p>
            <a:pPr>
              <a:defRPr sz="1950" b="1">
                <a:solidFill>
                  <a:srgbClr val="087F83"/>
                </a:solidFill>
                <a:latin typeface="DejaVu Sans"/>
              </a:defRPr>
            </a:pPr>
            <a:r>
              <a:t>0.3652</a:t>
            </a:r>
          </a:p>
        </p:txBody>
      </p:sp>
      <p:sp>
        <p:nvSpPr>
          <p:cNvPr id="21" name="Rounded Rectangle 20"/>
          <p:cNvSpPr/>
          <p:nvPr/>
        </p:nvSpPr>
        <p:spPr>
          <a:xfrm>
            <a:off x="7791450" y="1809750"/>
            <a:ext cx="3886200" cy="3181350"/>
          </a:xfrm>
          <a:prstGeom prst="roundRect">
            <a:avLst>
              <a:gd name="adj" fmla="val 2994"/>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29575" y="2047875"/>
            <a:ext cx="3355153" cy="400526"/>
          </a:xfrm>
          <a:prstGeom prst="rect">
            <a:avLst/>
          </a:prstGeom>
          <a:noFill/>
        </p:spPr>
        <p:txBody>
          <a:bodyPr wrap="none" lIns="0" tIns="0" rIns="0" bIns="0">
            <a:spAutoFit/>
          </a:bodyPr>
          <a:lstStyle/>
          <a:p>
            <a:pPr>
              <a:defRPr sz="2175" b="1">
                <a:solidFill>
                  <a:srgbClr val="152A3B"/>
                </a:solidFill>
                <a:latin typeface="DejaVu Sans"/>
              </a:defRPr>
            </a:pPr>
            <a:r>
              <a:t>Useful edits existed.</a:t>
            </a:r>
          </a:p>
        </p:txBody>
      </p:sp>
      <p:sp>
        <p:nvSpPr>
          <p:cNvPr id="23" name="TextBox 22"/>
          <p:cNvSpPr txBox="1"/>
          <p:nvPr/>
        </p:nvSpPr>
        <p:spPr>
          <a:xfrm>
            <a:off x="8029575" y="2552700"/>
            <a:ext cx="3338833" cy="372903"/>
          </a:xfrm>
          <a:prstGeom prst="rect">
            <a:avLst/>
          </a:prstGeom>
          <a:noFill/>
        </p:spPr>
        <p:txBody>
          <a:bodyPr wrap="none" lIns="0" tIns="0" rIns="0" bIns="0">
            <a:spAutoFit/>
          </a:bodyPr>
          <a:lstStyle/>
          <a:p>
            <a:pPr>
              <a:defRPr sz="2025" b="0">
                <a:solidFill>
                  <a:srgbClr val="152A3B"/>
                </a:solidFill>
                <a:latin typeface="DejaVu Sans"/>
              </a:defRPr>
            </a:pPr>
            <a:r>
              <a:t>Choosing edits for a new</a:t>
            </a:r>
          </a:p>
        </p:txBody>
      </p:sp>
      <p:sp>
        <p:nvSpPr>
          <p:cNvPr id="24" name="TextBox 23"/>
          <p:cNvSpPr txBox="1"/>
          <p:nvPr/>
        </p:nvSpPr>
        <p:spPr>
          <a:xfrm>
            <a:off x="8029575" y="2894742"/>
            <a:ext cx="2647424" cy="372903"/>
          </a:xfrm>
          <a:prstGeom prst="rect">
            <a:avLst/>
          </a:prstGeom>
          <a:noFill/>
        </p:spPr>
        <p:txBody>
          <a:bodyPr wrap="none" lIns="0" tIns="0" rIns="0" bIns="0">
            <a:spAutoFit/>
          </a:bodyPr>
          <a:lstStyle/>
          <a:p>
            <a:pPr>
              <a:defRPr sz="2025" b="0">
                <a:solidFill>
                  <a:srgbClr val="152A3B"/>
                </a:solidFill>
                <a:latin typeface="DejaVu Sans"/>
              </a:defRPr>
            </a:pPr>
            <a:r>
              <a:t>company remained</a:t>
            </a:r>
          </a:p>
        </p:txBody>
      </p:sp>
      <p:sp>
        <p:nvSpPr>
          <p:cNvPr id="25" name="TextBox 24"/>
          <p:cNvSpPr txBox="1"/>
          <p:nvPr/>
        </p:nvSpPr>
        <p:spPr>
          <a:xfrm>
            <a:off x="8029575" y="3236785"/>
            <a:ext cx="1198052" cy="372903"/>
          </a:xfrm>
          <a:prstGeom prst="rect">
            <a:avLst/>
          </a:prstGeom>
          <a:noFill/>
        </p:spPr>
        <p:txBody>
          <a:bodyPr wrap="none" lIns="0" tIns="0" rIns="0" bIns="0">
            <a:spAutoFit/>
          </a:bodyPr>
          <a:lstStyle/>
          <a:p>
            <a:pPr>
              <a:defRPr sz="2025" b="0">
                <a:solidFill>
                  <a:srgbClr val="152A3B"/>
                </a:solidFill>
                <a:latin typeface="DejaVu Sans"/>
              </a:defRPr>
            </a:pPr>
            <a:r>
              <a:t>difficult.</a:t>
            </a:r>
          </a:p>
        </p:txBody>
      </p:sp>
      <p:sp>
        <p:nvSpPr>
          <p:cNvPr id="26" name="TextBox 25"/>
          <p:cNvSpPr txBox="1"/>
          <p:nvPr/>
        </p:nvSpPr>
        <p:spPr>
          <a:xfrm>
            <a:off x="8029575" y="3781425"/>
            <a:ext cx="2959940" cy="317658"/>
          </a:xfrm>
          <a:prstGeom prst="rect">
            <a:avLst/>
          </a:prstGeom>
          <a:noFill/>
        </p:spPr>
        <p:txBody>
          <a:bodyPr wrap="none" lIns="0" tIns="0" rIns="0" bIns="0">
            <a:spAutoFit/>
          </a:bodyPr>
          <a:lstStyle/>
          <a:p>
            <a:pPr>
              <a:defRPr sz="1725" b="0">
                <a:solidFill>
                  <a:srgbClr val="506371"/>
                </a:solidFill>
                <a:latin typeface="DejaVu Sans"/>
              </a:defRPr>
            </a:pPr>
            <a:r>
              <a:t>Nested selector: no edits.</a:t>
            </a:r>
          </a:p>
        </p:txBody>
      </p:sp>
      <p:sp>
        <p:nvSpPr>
          <p:cNvPr id="27" name="TextBox 26"/>
          <p:cNvSpPr txBox="1"/>
          <p:nvPr/>
        </p:nvSpPr>
        <p:spPr>
          <a:xfrm>
            <a:off x="8029575" y="4095750"/>
            <a:ext cx="2639885" cy="317658"/>
          </a:xfrm>
          <a:prstGeom prst="rect">
            <a:avLst/>
          </a:prstGeom>
          <a:noFill/>
        </p:spPr>
        <p:txBody>
          <a:bodyPr wrap="none" lIns="0" tIns="0" rIns="0" bIns="0">
            <a:spAutoFit/>
          </a:bodyPr>
          <a:lstStyle/>
          <a:p>
            <a:pPr>
              <a:defRPr sz="1725" b="0">
                <a:solidFill>
                  <a:srgbClr val="506371"/>
                </a:solidFill>
                <a:latin typeface="DejaVu Sans"/>
              </a:defRPr>
            </a:pPr>
            <a:r>
              <a:t>Temporal test: 4 edits,</a:t>
            </a:r>
          </a:p>
        </p:txBody>
      </p:sp>
      <p:sp>
        <p:nvSpPr>
          <p:cNvPr id="28" name="TextBox 27"/>
          <p:cNvSpPr txBox="1"/>
          <p:nvPr/>
        </p:nvSpPr>
        <p:spPr>
          <a:xfrm>
            <a:off x="8029575" y="4410075"/>
            <a:ext cx="1610083" cy="317658"/>
          </a:xfrm>
          <a:prstGeom prst="rect">
            <a:avLst/>
          </a:prstGeom>
          <a:noFill/>
        </p:spPr>
        <p:txBody>
          <a:bodyPr wrap="none" lIns="0" tIns="0" rIns="0" bIns="0">
            <a:spAutoFit/>
          </a:bodyPr>
          <a:lstStyle/>
          <a:p>
            <a:pPr>
              <a:defRPr sz="1725" b="0">
                <a:solidFill>
                  <a:srgbClr val="506371"/>
                </a:solidFill>
                <a:latin typeface="DejaVu Sans"/>
              </a:defRPr>
            </a:pPr>
            <a:r>
              <a:t>all 4 harmful.</a:t>
            </a:r>
          </a:p>
        </p:txBody>
      </p:sp>
      <p:sp>
        <p:nvSpPr>
          <p:cNvPr id="29" name="Rounded Rectangle 28"/>
          <p:cNvSpPr/>
          <p:nvPr/>
        </p:nvSpPr>
        <p:spPr>
          <a:xfrm>
            <a:off x="514350" y="5362575"/>
            <a:ext cx="11163300" cy="628650"/>
          </a:xfrm>
          <a:prstGeom prst="roundRect">
            <a:avLst>
              <a:gd name="adj" fmla="val 10000"/>
            </a:avLst>
          </a:prstGeom>
          <a:solidFill>
            <a:srgbClr val="FFF2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3900" y="5543550"/>
            <a:ext cx="8124238" cy="359092"/>
          </a:xfrm>
          <a:prstGeom prst="rect">
            <a:avLst/>
          </a:prstGeom>
          <a:noFill/>
        </p:spPr>
        <p:txBody>
          <a:bodyPr wrap="none" lIns="0" tIns="0" rIns="0" bIns="0">
            <a:spAutoFit/>
          </a:bodyPr>
          <a:lstStyle/>
          <a:p>
            <a:pPr>
              <a:defRPr sz="1950" b="1">
                <a:solidFill>
                  <a:srgbClr val="AA5C20"/>
                </a:solidFill>
                <a:latin typeface="DejaVu Sans"/>
              </a:defRPr>
            </a:pPr>
            <a:r>
              <a:t>Oracle: uses reference answers unavailable at inference.</a:t>
            </a:r>
          </a:p>
        </p:txBody>
      </p:sp>
      <p:sp>
        <p:nvSpPr>
          <p:cNvPr id="31" name="TextBox 30"/>
          <p:cNvSpPr txBox="1"/>
          <p:nvPr/>
        </p:nvSpPr>
        <p:spPr>
          <a:xfrm>
            <a:off x="514350" y="6143625"/>
            <a:ext cx="6933562" cy="234791"/>
          </a:xfrm>
          <a:prstGeom prst="rect">
            <a:avLst/>
          </a:prstGeom>
          <a:noFill/>
        </p:spPr>
        <p:txBody>
          <a:bodyPr wrap="none" lIns="0" tIns="0" rIns="0" bIns="0">
            <a:spAutoFit/>
          </a:bodyPr>
          <a:lstStyle/>
          <a:p>
            <a:pPr>
              <a:defRPr sz="1275" b="0">
                <a:solidFill>
                  <a:srgbClr val="506371"/>
                </a:solidFill>
                <a:latin typeface="DejaVu Sans"/>
              </a:defRPr>
            </a:pPr>
            <a:r>
              <a:t>Historical evaluation · Not directly comparable with the official private leaderboard.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6515100"/>
            <a:ext cx="2811353" cy="207168"/>
          </a:xfrm>
          <a:prstGeom prst="rect">
            <a:avLst/>
          </a:prstGeom>
          <a:noFill/>
        </p:spPr>
        <p:txBody>
          <a:bodyPr wrap="none" lIns="0" tIns="0" rIns="0" bIns="0">
            <a:spAutoFit/>
          </a:bodyPr>
          <a:lstStyle/>
          <a:p>
            <a:pPr>
              <a:defRPr sz="1125" b="0">
                <a:solidFill>
                  <a:srgbClr val="506371"/>
                </a:solidFill>
                <a:latin typeface="DejaVu Sans"/>
              </a:defRPr>
            </a:pPr>
            <a:r>
              <a:t>ADML   ·   FinNLP 2026   ·   FinNLP-65</a:t>
            </a:r>
          </a:p>
        </p:txBody>
      </p:sp>
      <p:sp>
        <p:nvSpPr>
          <p:cNvPr id="4" name="TextBox 3"/>
          <p:cNvSpPr txBox="1"/>
          <p:nvPr/>
        </p:nvSpPr>
        <p:spPr>
          <a:xfrm>
            <a:off x="11029950" y="6515100"/>
            <a:ext cx="654973" cy="207168"/>
          </a:xfrm>
          <a:prstGeom prst="rect">
            <a:avLst/>
          </a:prstGeom>
          <a:noFill/>
        </p:spPr>
        <p:txBody>
          <a:bodyPr wrap="none" lIns="0" tIns="0" rIns="0" bIns="0">
            <a:spAutoFit/>
          </a:bodyPr>
          <a:lstStyle/>
          <a:p>
            <a:pPr>
              <a:defRPr sz="1125" b="0">
                <a:solidFill>
                  <a:srgbClr val="506371"/>
                </a:solidFill>
                <a:latin typeface="DejaVu Sans"/>
              </a:defRPr>
            </a:pPr>
            <a:r>
              <a:t>05 / 06</a:t>
            </a:r>
          </a:p>
        </p:txBody>
      </p:sp>
      <p:sp>
        <p:nvSpPr>
          <p:cNvPr id="5" name="TextBox 4"/>
          <p:cNvSpPr txBox="1"/>
          <p:nvPr/>
        </p:nvSpPr>
        <p:spPr>
          <a:xfrm>
            <a:off x="514350" y="352425"/>
            <a:ext cx="3073077" cy="248602"/>
          </a:xfrm>
          <a:prstGeom prst="rect">
            <a:avLst/>
          </a:prstGeom>
          <a:noFill/>
        </p:spPr>
        <p:txBody>
          <a:bodyPr wrap="none" lIns="0" tIns="0" rIns="0" bIns="0">
            <a:spAutoFit/>
          </a:bodyPr>
          <a:lstStyle/>
          <a:p>
            <a:pPr>
              <a:defRPr sz="1350" b="1">
                <a:solidFill>
                  <a:srgbClr val="087F83"/>
                </a:solidFill>
                <a:latin typeface="DejaVu Sans"/>
              </a:defRPr>
            </a:pPr>
            <a:r>
              <a:t>FINAL COMPETITION SYSTEMS</a:t>
            </a:r>
          </a:p>
        </p:txBody>
      </p:sp>
      <p:sp>
        <p:nvSpPr>
          <p:cNvPr id="6" name="TextBox 5"/>
          <p:cNvSpPr txBox="1"/>
          <p:nvPr/>
        </p:nvSpPr>
        <p:spPr>
          <a:xfrm>
            <a:off x="514350" y="771525"/>
            <a:ext cx="9155571" cy="552450"/>
          </a:xfrm>
          <a:prstGeom prst="rect">
            <a:avLst/>
          </a:prstGeom>
          <a:noFill/>
        </p:spPr>
        <p:txBody>
          <a:bodyPr wrap="none" lIns="0" tIns="0" rIns="0" bIns="0">
            <a:spAutoFit/>
          </a:bodyPr>
          <a:lstStyle/>
          <a:p>
            <a:pPr>
              <a:defRPr sz="3000" b="1">
                <a:solidFill>
                  <a:srgbClr val="152A3B"/>
                </a:solidFill>
                <a:latin typeface="DejaVu Sans"/>
              </a:defRPr>
            </a:pPr>
            <a:r>
              <a:t>What the benchmark ultimately rewarded</a:t>
            </a:r>
          </a:p>
        </p:txBody>
      </p:sp>
      <p:sp>
        <p:nvSpPr>
          <p:cNvPr id="7" name="Rectangle 6"/>
          <p:cNvSpPr/>
          <p:nvPr/>
        </p:nvSpPr>
        <p:spPr>
          <a:xfrm>
            <a:off x="514350" y="1362075"/>
            <a:ext cx="11163300" cy="28575"/>
          </a:xfrm>
          <a:prstGeom prst="rect">
            <a:avLst/>
          </a:prstGeom>
          <a:solidFill>
            <a:srgbClr val="D6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4350" y="1685925"/>
            <a:ext cx="3543300" cy="1514475"/>
          </a:xfrm>
          <a:prstGeom prst="roundRect">
            <a:avLst>
              <a:gd name="adj" fmla="val 5660"/>
            </a:avLst>
          </a:prstGeom>
          <a:solidFill>
            <a:srgbClr val="E9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850" y="1847850"/>
            <a:ext cx="1745567" cy="386715"/>
          </a:xfrm>
          <a:prstGeom prst="rect">
            <a:avLst/>
          </a:prstGeom>
          <a:noFill/>
        </p:spPr>
        <p:txBody>
          <a:bodyPr wrap="none" lIns="0" tIns="0" rIns="0" bIns="0">
            <a:spAutoFit/>
          </a:bodyPr>
          <a:lstStyle/>
          <a:p>
            <a:pPr>
              <a:defRPr sz="2100" b="1">
                <a:solidFill>
                  <a:srgbClr val="087F83"/>
                </a:solidFill>
                <a:latin typeface="DejaVu Sans"/>
              </a:defRPr>
            </a:pPr>
            <a:r>
              <a:t>Greek NER</a:t>
            </a:r>
          </a:p>
        </p:txBody>
      </p:sp>
      <p:sp>
        <p:nvSpPr>
          <p:cNvPr id="10" name="TextBox 9"/>
          <p:cNvSpPr txBox="1"/>
          <p:nvPr/>
        </p:nvSpPr>
        <p:spPr>
          <a:xfrm>
            <a:off x="704850" y="2333625"/>
            <a:ext cx="2903353" cy="317658"/>
          </a:xfrm>
          <a:prstGeom prst="rect">
            <a:avLst/>
          </a:prstGeom>
          <a:noFill/>
        </p:spPr>
        <p:txBody>
          <a:bodyPr wrap="none" lIns="0" tIns="0" rIns="0" bIns="0">
            <a:spAutoFit/>
          </a:bodyPr>
          <a:lstStyle/>
          <a:p>
            <a:pPr>
              <a:defRPr sz="1725" b="1">
                <a:solidFill>
                  <a:srgbClr val="152A3B"/>
                </a:solidFill>
                <a:latin typeface="DejaVu Sans"/>
              </a:defRPr>
            </a:pPr>
            <a:r>
              <a:t>200 / 200 exact inputs</a:t>
            </a:r>
          </a:p>
        </p:txBody>
      </p:sp>
      <p:sp>
        <p:nvSpPr>
          <p:cNvPr id="11" name="TextBox 10"/>
          <p:cNvSpPr txBox="1"/>
          <p:nvPr/>
        </p:nvSpPr>
        <p:spPr>
          <a:xfrm>
            <a:off x="704850" y="2752725"/>
            <a:ext cx="2567880" cy="276225"/>
          </a:xfrm>
          <a:prstGeom prst="rect">
            <a:avLst/>
          </a:prstGeom>
          <a:noFill/>
        </p:spPr>
        <p:txBody>
          <a:bodyPr wrap="none" lIns="0" tIns="0" rIns="0" bIns="0">
            <a:spAutoFit/>
          </a:bodyPr>
          <a:lstStyle/>
          <a:p>
            <a:pPr>
              <a:defRPr sz="1500" b="0">
                <a:solidFill>
                  <a:srgbClr val="506371"/>
                </a:solidFill>
                <a:latin typeface="DejaVu Sans"/>
              </a:defRPr>
            </a:pPr>
            <a:r>
              <a:t>Public-reference retrieval</a:t>
            </a:r>
          </a:p>
        </p:txBody>
      </p:sp>
      <p:sp>
        <p:nvSpPr>
          <p:cNvPr id="12" name="Rounded Rectangle 11"/>
          <p:cNvSpPr/>
          <p:nvPr/>
        </p:nvSpPr>
        <p:spPr>
          <a:xfrm>
            <a:off x="4324350" y="1685925"/>
            <a:ext cx="3543300" cy="1514475"/>
          </a:xfrm>
          <a:prstGeom prst="roundRect">
            <a:avLst>
              <a:gd name="adj" fmla="val 5660"/>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4850" y="1847850"/>
            <a:ext cx="2106029" cy="386715"/>
          </a:xfrm>
          <a:prstGeom prst="rect">
            <a:avLst/>
          </a:prstGeom>
          <a:noFill/>
        </p:spPr>
        <p:txBody>
          <a:bodyPr wrap="none" lIns="0" tIns="0" rIns="0" bIns="0">
            <a:spAutoFit/>
          </a:bodyPr>
          <a:lstStyle/>
          <a:p>
            <a:pPr>
              <a:defRPr sz="2100" b="1">
                <a:solidFill>
                  <a:srgbClr val="087F83"/>
                </a:solidFill>
                <a:latin typeface="DejaVu Sans"/>
              </a:defRPr>
            </a:pPr>
            <a:r>
              <a:t>Japanese ICR</a:t>
            </a:r>
          </a:p>
        </p:txBody>
      </p:sp>
      <p:sp>
        <p:nvSpPr>
          <p:cNvPr id="14" name="TextBox 13"/>
          <p:cNvSpPr txBox="1"/>
          <p:nvPr/>
        </p:nvSpPr>
        <p:spPr>
          <a:xfrm>
            <a:off x="4514850" y="2333625"/>
            <a:ext cx="2522432" cy="317658"/>
          </a:xfrm>
          <a:prstGeom prst="rect">
            <a:avLst/>
          </a:prstGeom>
          <a:noFill/>
        </p:spPr>
        <p:txBody>
          <a:bodyPr wrap="none" lIns="0" tIns="0" rIns="0" bIns="0">
            <a:spAutoFit/>
          </a:bodyPr>
          <a:lstStyle/>
          <a:p>
            <a:pPr>
              <a:defRPr sz="1725" b="1">
                <a:solidFill>
                  <a:srgbClr val="152A3B"/>
                </a:solidFill>
                <a:latin typeface="DejaVu Sans"/>
              </a:defRPr>
            </a:pPr>
            <a:r>
              <a:t>Explicit intent cues</a:t>
            </a:r>
          </a:p>
        </p:txBody>
      </p:sp>
      <p:sp>
        <p:nvSpPr>
          <p:cNvPr id="15" name="TextBox 14"/>
          <p:cNvSpPr txBox="1"/>
          <p:nvPr/>
        </p:nvSpPr>
        <p:spPr>
          <a:xfrm>
            <a:off x="4514850" y="2752725"/>
            <a:ext cx="2979204" cy="276225"/>
          </a:xfrm>
          <a:prstGeom prst="rect">
            <a:avLst/>
          </a:prstGeom>
          <a:noFill/>
        </p:spPr>
        <p:txBody>
          <a:bodyPr wrap="none" lIns="0" tIns="0" rIns="0" bIns="0">
            <a:spAutoFit/>
          </a:bodyPr>
          <a:lstStyle/>
          <a:p>
            <a:pPr>
              <a:defRPr sz="1500" b="0">
                <a:solidFill>
                  <a:srgbClr val="506371"/>
                </a:solidFill>
                <a:latin typeface="DejaVu Sans"/>
              </a:defRPr>
            </a:pPr>
            <a:r>
              <a:t>Deterministic semantic rubric</a:t>
            </a:r>
          </a:p>
        </p:txBody>
      </p:sp>
      <p:sp>
        <p:nvSpPr>
          <p:cNvPr id="16" name="Rounded Rectangle 15"/>
          <p:cNvSpPr/>
          <p:nvPr/>
        </p:nvSpPr>
        <p:spPr>
          <a:xfrm>
            <a:off x="8134350" y="1685925"/>
            <a:ext cx="3543300" cy="1514475"/>
          </a:xfrm>
          <a:prstGeom prst="roundRect">
            <a:avLst>
              <a:gd name="adj" fmla="val 5660"/>
            </a:avLst>
          </a:prstGeom>
          <a:solidFill>
            <a:srgbClr val="E9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4849" y="1847850"/>
            <a:ext cx="2468835" cy="386715"/>
          </a:xfrm>
          <a:prstGeom prst="rect">
            <a:avLst/>
          </a:prstGeom>
          <a:noFill/>
        </p:spPr>
        <p:txBody>
          <a:bodyPr wrap="none" lIns="0" tIns="0" rIns="0" bIns="0">
            <a:spAutoFit/>
          </a:bodyPr>
          <a:lstStyle/>
          <a:p>
            <a:pPr>
              <a:defRPr sz="2100" b="1">
                <a:solidFill>
                  <a:srgbClr val="087F83"/>
                </a:solidFill>
                <a:latin typeface="DejaVu Sans"/>
              </a:defRPr>
            </a:pPr>
            <a:r>
              <a:t>Multilingual QA</a:t>
            </a:r>
          </a:p>
        </p:txBody>
      </p:sp>
      <p:sp>
        <p:nvSpPr>
          <p:cNvPr id="18" name="TextBox 17"/>
          <p:cNvSpPr txBox="1"/>
          <p:nvPr/>
        </p:nvSpPr>
        <p:spPr>
          <a:xfrm>
            <a:off x="8324849" y="2333625"/>
            <a:ext cx="2598487" cy="317658"/>
          </a:xfrm>
          <a:prstGeom prst="rect">
            <a:avLst/>
          </a:prstGeom>
          <a:noFill/>
        </p:spPr>
        <p:txBody>
          <a:bodyPr wrap="none" lIns="0" tIns="0" rIns="0" bIns="0">
            <a:spAutoFit/>
          </a:bodyPr>
          <a:lstStyle/>
          <a:p>
            <a:pPr>
              <a:defRPr sz="1725" b="1">
                <a:solidFill>
                  <a:srgbClr val="152A3B"/>
                </a:solidFill>
                <a:latin typeface="DejaVu Sans"/>
              </a:defRPr>
            </a:pPr>
            <a:r>
              <a:t>76 / 76 exact inputs</a:t>
            </a:r>
          </a:p>
        </p:txBody>
      </p:sp>
      <p:sp>
        <p:nvSpPr>
          <p:cNvPr id="19" name="TextBox 18"/>
          <p:cNvSpPr txBox="1"/>
          <p:nvPr/>
        </p:nvSpPr>
        <p:spPr>
          <a:xfrm>
            <a:off x="8324849" y="2752725"/>
            <a:ext cx="2567880" cy="276225"/>
          </a:xfrm>
          <a:prstGeom prst="rect">
            <a:avLst/>
          </a:prstGeom>
          <a:noFill/>
        </p:spPr>
        <p:txBody>
          <a:bodyPr wrap="none" lIns="0" tIns="0" rIns="0" bIns="0">
            <a:spAutoFit/>
          </a:bodyPr>
          <a:lstStyle/>
          <a:p>
            <a:pPr>
              <a:defRPr sz="1500" b="0">
                <a:solidFill>
                  <a:srgbClr val="506371"/>
                </a:solidFill>
                <a:latin typeface="DejaVu Sans"/>
              </a:defRPr>
            </a:pPr>
            <a:r>
              <a:t>Public-reference retrieval</a:t>
            </a:r>
          </a:p>
        </p:txBody>
      </p:sp>
      <p:sp>
        <p:nvSpPr>
          <p:cNvPr id="20" name="TextBox 19"/>
          <p:cNvSpPr txBox="1"/>
          <p:nvPr/>
        </p:nvSpPr>
        <p:spPr>
          <a:xfrm>
            <a:off x="514350" y="3438525"/>
            <a:ext cx="8660717" cy="331470"/>
          </a:xfrm>
          <a:prstGeom prst="rect">
            <a:avLst/>
          </a:prstGeom>
          <a:noFill/>
        </p:spPr>
        <p:txBody>
          <a:bodyPr wrap="none" lIns="0" tIns="0" rIns="0" bIns="0">
            <a:spAutoFit/>
          </a:bodyPr>
          <a:lstStyle/>
          <a:p>
            <a:pPr>
              <a:defRPr sz="1800" b="1">
                <a:solidFill>
                  <a:srgbClr val="152A3B"/>
                </a:solidFill>
                <a:latin typeface="DejaVu Sans"/>
              </a:defRPr>
            </a:pPr>
            <a:r>
              <a:t>External data permitted · Final runner: CPU only, no neural model</a:t>
            </a:r>
          </a:p>
        </p:txBody>
      </p:sp>
      <p:sp>
        <p:nvSpPr>
          <p:cNvPr id="21" name="Rounded Rectangle 20"/>
          <p:cNvSpPr/>
          <p:nvPr/>
        </p:nvSpPr>
        <p:spPr>
          <a:xfrm>
            <a:off x="514350" y="3971925"/>
            <a:ext cx="4953000" cy="1724025"/>
          </a:xfrm>
          <a:prstGeom prst="roundRect">
            <a:avLst>
              <a:gd name="adj" fmla="val 5524"/>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425" y="4143375"/>
            <a:ext cx="1184950" cy="248602"/>
          </a:xfrm>
          <a:prstGeom prst="rect">
            <a:avLst/>
          </a:prstGeom>
          <a:noFill/>
        </p:spPr>
        <p:txBody>
          <a:bodyPr wrap="none" lIns="0" tIns="0" rIns="0" bIns="0">
            <a:spAutoFit/>
          </a:bodyPr>
          <a:lstStyle/>
          <a:p>
            <a:pPr>
              <a:defRPr sz="1350" b="1">
                <a:solidFill>
                  <a:srgbClr val="506371"/>
                </a:solidFill>
                <a:latin typeface="DejaVu Sans"/>
              </a:defRPr>
            </a:pPr>
            <a:r>
              <a:t>QA PUBLIC</a:t>
            </a:r>
          </a:p>
        </p:txBody>
      </p:sp>
      <p:sp>
        <p:nvSpPr>
          <p:cNvPr id="23" name="TextBox 22"/>
          <p:cNvSpPr txBox="1"/>
          <p:nvPr/>
        </p:nvSpPr>
        <p:spPr>
          <a:xfrm>
            <a:off x="3190875" y="4143375"/>
            <a:ext cx="1311445" cy="248602"/>
          </a:xfrm>
          <a:prstGeom prst="rect">
            <a:avLst/>
          </a:prstGeom>
          <a:noFill/>
        </p:spPr>
        <p:txBody>
          <a:bodyPr wrap="none" lIns="0" tIns="0" rIns="0" bIns="0">
            <a:spAutoFit/>
          </a:bodyPr>
          <a:lstStyle/>
          <a:p>
            <a:pPr>
              <a:defRPr sz="1350" b="1">
                <a:solidFill>
                  <a:srgbClr val="506371"/>
                </a:solidFill>
                <a:latin typeface="DejaVu Sans"/>
              </a:defRPr>
            </a:pPr>
            <a:r>
              <a:t>QA PRIVATE</a:t>
            </a:r>
          </a:p>
        </p:txBody>
      </p:sp>
      <p:sp>
        <p:nvSpPr>
          <p:cNvPr id="24" name="TextBox 23"/>
          <p:cNvSpPr txBox="1"/>
          <p:nvPr/>
        </p:nvSpPr>
        <p:spPr>
          <a:xfrm>
            <a:off x="733425" y="4524375"/>
            <a:ext cx="1843171" cy="635317"/>
          </a:xfrm>
          <a:prstGeom prst="rect">
            <a:avLst/>
          </a:prstGeom>
          <a:noFill/>
        </p:spPr>
        <p:txBody>
          <a:bodyPr wrap="none" lIns="0" tIns="0" rIns="0" bIns="0">
            <a:spAutoFit/>
          </a:bodyPr>
          <a:lstStyle/>
          <a:p>
            <a:pPr>
              <a:defRPr sz="3450" b="1">
                <a:solidFill>
                  <a:srgbClr val="087F83"/>
                </a:solidFill>
                <a:latin typeface="DejaVu Sans"/>
              </a:defRPr>
            </a:pPr>
            <a:r>
              <a:t>0.9994</a:t>
            </a:r>
          </a:p>
        </p:txBody>
      </p:sp>
      <p:sp>
        <p:nvSpPr>
          <p:cNvPr id="25" name="TextBox 24"/>
          <p:cNvSpPr txBox="1"/>
          <p:nvPr/>
        </p:nvSpPr>
        <p:spPr>
          <a:xfrm>
            <a:off x="3190875" y="4524375"/>
            <a:ext cx="1843171" cy="635317"/>
          </a:xfrm>
          <a:prstGeom prst="rect">
            <a:avLst/>
          </a:prstGeom>
          <a:noFill/>
        </p:spPr>
        <p:txBody>
          <a:bodyPr wrap="none" lIns="0" tIns="0" rIns="0" bIns="0">
            <a:spAutoFit/>
          </a:bodyPr>
          <a:lstStyle/>
          <a:p>
            <a:pPr>
              <a:defRPr sz="3450" b="1">
                <a:solidFill>
                  <a:srgbClr val="AA5C20"/>
                </a:solidFill>
                <a:latin typeface="DejaVu Sans"/>
              </a:defRPr>
            </a:pPr>
            <a:r>
              <a:t>0.3726</a:t>
            </a:r>
          </a:p>
        </p:txBody>
      </p:sp>
      <p:sp>
        <p:nvSpPr>
          <p:cNvPr id="26" name="TextBox 25"/>
          <p:cNvSpPr txBox="1"/>
          <p:nvPr/>
        </p:nvSpPr>
        <p:spPr>
          <a:xfrm>
            <a:off x="733425" y="5181600"/>
            <a:ext cx="1439181" cy="290036"/>
          </a:xfrm>
          <a:prstGeom prst="rect">
            <a:avLst/>
          </a:prstGeom>
          <a:noFill/>
        </p:spPr>
        <p:txBody>
          <a:bodyPr wrap="none" lIns="0" tIns="0" rIns="0" bIns="0">
            <a:spAutoFit/>
          </a:bodyPr>
          <a:lstStyle/>
          <a:p>
            <a:pPr>
              <a:defRPr sz="1575" b="0">
                <a:solidFill>
                  <a:srgbClr val="506371"/>
                </a:solidFill>
                <a:latin typeface="DejaVu Sans"/>
              </a:defRPr>
            </a:pPr>
            <a:r>
              <a:t>24 examples</a:t>
            </a:r>
          </a:p>
        </p:txBody>
      </p:sp>
      <p:sp>
        <p:nvSpPr>
          <p:cNvPr id="27" name="TextBox 26"/>
          <p:cNvSpPr txBox="1"/>
          <p:nvPr/>
        </p:nvSpPr>
        <p:spPr>
          <a:xfrm>
            <a:off x="3190875" y="5181600"/>
            <a:ext cx="1439181" cy="290036"/>
          </a:xfrm>
          <a:prstGeom prst="rect">
            <a:avLst/>
          </a:prstGeom>
          <a:noFill/>
        </p:spPr>
        <p:txBody>
          <a:bodyPr wrap="none" lIns="0" tIns="0" rIns="0" bIns="0">
            <a:spAutoFit/>
          </a:bodyPr>
          <a:lstStyle/>
          <a:p>
            <a:pPr>
              <a:defRPr sz="1575" b="0">
                <a:solidFill>
                  <a:srgbClr val="506371"/>
                </a:solidFill>
                <a:latin typeface="DejaVu Sans"/>
              </a:defRPr>
            </a:pPr>
            <a:r>
              <a:t>52 examples</a:t>
            </a:r>
          </a:p>
        </p:txBody>
      </p:sp>
      <p:sp>
        <p:nvSpPr>
          <p:cNvPr id="28" name="TextBox 27"/>
          <p:cNvSpPr txBox="1"/>
          <p:nvPr/>
        </p:nvSpPr>
        <p:spPr>
          <a:xfrm>
            <a:off x="5972175" y="4067175"/>
            <a:ext cx="2478067" cy="455771"/>
          </a:xfrm>
          <a:prstGeom prst="rect">
            <a:avLst/>
          </a:prstGeom>
          <a:noFill/>
        </p:spPr>
        <p:txBody>
          <a:bodyPr wrap="none" lIns="0" tIns="0" rIns="0" bIns="0">
            <a:spAutoFit/>
          </a:bodyPr>
          <a:lstStyle/>
          <a:p>
            <a:pPr>
              <a:defRPr sz="2475" b="1">
                <a:solidFill>
                  <a:srgbClr val="152A3B"/>
                </a:solidFill>
                <a:latin typeface="DejaVu Sans"/>
              </a:defRPr>
            </a:pPr>
            <a:r>
              <a:t>Same inputs.</a:t>
            </a:r>
          </a:p>
        </p:txBody>
      </p:sp>
      <p:sp>
        <p:nvSpPr>
          <p:cNvPr id="29" name="TextBox 28"/>
          <p:cNvSpPr txBox="1"/>
          <p:nvPr/>
        </p:nvSpPr>
        <p:spPr>
          <a:xfrm>
            <a:off x="5972175" y="4514850"/>
            <a:ext cx="4751705" cy="455771"/>
          </a:xfrm>
          <a:prstGeom prst="rect">
            <a:avLst/>
          </a:prstGeom>
          <a:noFill/>
        </p:spPr>
        <p:txBody>
          <a:bodyPr wrap="none" lIns="0" tIns="0" rIns="0" bIns="0">
            <a:spAutoFit/>
          </a:bodyPr>
          <a:lstStyle/>
          <a:p>
            <a:pPr>
              <a:defRPr sz="2475" b="1">
                <a:solidFill>
                  <a:srgbClr val="152A3B"/>
                </a:solidFill>
                <a:latin typeface="DejaVu Sans"/>
              </a:defRPr>
            </a:pPr>
            <a:r>
              <a:t>Different target versions?</a:t>
            </a:r>
          </a:p>
        </p:txBody>
      </p:sp>
      <p:sp>
        <p:nvSpPr>
          <p:cNvPr id="30" name="TextBox 29"/>
          <p:cNvSpPr txBox="1"/>
          <p:nvPr/>
        </p:nvSpPr>
        <p:spPr>
          <a:xfrm>
            <a:off x="5972175" y="5133975"/>
            <a:ext cx="4036381" cy="317658"/>
          </a:xfrm>
          <a:prstGeom prst="rect">
            <a:avLst/>
          </a:prstGeom>
          <a:noFill/>
        </p:spPr>
        <p:txBody>
          <a:bodyPr wrap="none" lIns="0" tIns="0" rIns="0" bIns="0">
            <a:spAutoFit/>
          </a:bodyPr>
          <a:lstStyle/>
          <a:p>
            <a:pPr>
              <a:defRPr sz="1725" b="0">
                <a:solidFill>
                  <a:srgbClr val="506371"/>
                </a:solidFill>
                <a:latin typeface="DejaVu Sans"/>
              </a:defRPr>
            </a:pPr>
            <a:r>
              <a:t>Consistent with reference changes;</a:t>
            </a:r>
          </a:p>
        </p:txBody>
      </p:sp>
      <p:sp>
        <p:nvSpPr>
          <p:cNvPr id="31" name="TextBox 30"/>
          <p:cNvSpPr txBox="1"/>
          <p:nvPr/>
        </p:nvSpPr>
        <p:spPr>
          <a:xfrm>
            <a:off x="5972175" y="5448300"/>
            <a:ext cx="4433134" cy="317658"/>
          </a:xfrm>
          <a:prstGeom prst="rect">
            <a:avLst/>
          </a:prstGeom>
          <a:noFill/>
        </p:spPr>
        <p:txBody>
          <a:bodyPr wrap="none" lIns="0" tIns="0" rIns="0" bIns="0">
            <a:spAutoFit/>
          </a:bodyPr>
          <a:lstStyle/>
          <a:p>
            <a:pPr>
              <a:defRPr sz="1725" b="0">
                <a:solidFill>
                  <a:srgbClr val="506371"/>
                </a:solidFill>
                <a:latin typeface="DejaVu Sans"/>
              </a:defRPr>
            </a:pPr>
            <a:r>
              <a:t>private reference answers unavailable.</a:t>
            </a:r>
          </a:p>
        </p:txBody>
      </p:sp>
      <p:sp>
        <p:nvSpPr>
          <p:cNvPr id="32" name="TextBox 31"/>
          <p:cNvSpPr txBox="1"/>
          <p:nvPr/>
        </p:nvSpPr>
        <p:spPr>
          <a:xfrm>
            <a:off x="514350" y="6029325"/>
            <a:ext cx="7238358" cy="234791"/>
          </a:xfrm>
          <a:prstGeom prst="rect">
            <a:avLst/>
          </a:prstGeom>
          <a:noFill/>
        </p:spPr>
        <p:txBody>
          <a:bodyPr wrap="none" lIns="0" tIns="0" rIns="0" bIns="0">
            <a:spAutoFit/>
          </a:bodyPr>
          <a:lstStyle/>
          <a:p>
            <a:pPr>
              <a:defRPr sz="1275" b="0">
                <a:solidFill>
                  <a:srgbClr val="506371"/>
                </a:solidFill>
                <a:latin typeface="DejaVu Sans"/>
              </a:defRPr>
            </a:pPr>
            <a:r>
              <a:t>QA scores: official ROUGE-1 F1 · Retrieval coverage refers to full-query input matching.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5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6515100"/>
            <a:ext cx="2811353" cy="207168"/>
          </a:xfrm>
          <a:prstGeom prst="rect">
            <a:avLst/>
          </a:prstGeom>
          <a:noFill/>
        </p:spPr>
        <p:txBody>
          <a:bodyPr wrap="none" lIns="0" tIns="0" rIns="0" bIns="0">
            <a:spAutoFit/>
          </a:bodyPr>
          <a:lstStyle/>
          <a:p>
            <a:pPr>
              <a:defRPr sz="1125" b="0">
                <a:solidFill>
                  <a:srgbClr val="B6CFD6"/>
                </a:solidFill>
                <a:latin typeface="DejaVu Sans"/>
              </a:defRPr>
            </a:pPr>
            <a:r>
              <a:t>ADML   ·   FinNLP 2026   ·   FinNLP-65</a:t>
            </a:r>
          </a:p>
        </p:txBody>
      </p:sp>
      <p:sp>
        <p:nvSpPr>
          <p:cNvPr id="4" name="TextBox 3"/>
          <p:cNvSpPr txBox="1"/>
          <p:nvPr/>
        </p:nvSpPr>
        <p:spPr>
          <a:xfrm>
            <a:off x="11029950" y="6515100"/>
            <a:ext cx="654973" cy="207168"/>
          </a:xfrm>
          <a:prstGeom prst="rect">
            <a:avLst/>
          </a:prstGeom>
          <a:noFill/>
        </p:spPr>
        <p:txBody>
          <a:bodyPr wrap="none" lIns="0" tIns="0" rIns="0" bIns="0">
            <a:spAutoFit/>
          </a:bodyPr>
          <a:lstStyle/>
          <a:p>
            <a:pPr>
              <a:defRPr sz="1125" b="0">
                <a:solidFill>
                  <a:srgbClr val="B6CFD6"/>
                </a:solidFill>
                <a:latin typeface="DejaVu Sans"/>
              </a:defRPr>
            </a:pPr>
            <a:r>
              <a:t>06 / 06</a:t>
            </a:r>
          </a:p>
        </p:txBody>
      </p:sp>
      <p:sp>
        <p:nvSpPr>
          <p:cNvPr id="5" name="TextBox 4"/>
          <p:cNvSpPr txBox="1"/>
          <p:nvPr/>
        </p:nvSpPr>
        <p:spPr>
          <a:xfrm>
            <a:off x="514350" y="352425"/>
            <a:ext cx="3039172" cy="248602"/>
          </a:xfrm>
          <a:prstGeom prst="rect">
            <a:avLst/>
          </a:prstGeom>
          <a:noFill/>
        </p:spPr>
        <p:txBody>
          <a:bodyPr wrap="none" lIns="0" tIns="0" rIns="0" bIns="0">
            <a:spAutoFit/>
          </a:bodyPr>
          <a:lstStyle/>
          <a:p>
            <a:pPr>
              <a:defRPr sz="1350" b="1">
                <a:solidFill>
                  <a:srgbClr val="70D9CD"/>
                </a:solidFill>
                <a:latin typeface="DejaVu Sans"/>
              </a:defRPr>
            </a:pPr>
            <a:r>
              <a:t>LESSONS FROM THREE TASKS</a:t>
            </a:r>
          </a:p>
        </p:txBody>
      </p:sp>
      <p:sp>
        <p:nvSpPr>
          <p:cNvPr id="6" name="TextBox 5"/>
          <p:cNvSpPr txBox="1"/>
          <p:nvPr/>
        </p:nvSpPr>
        <p:spPr>
          <a:xfrm>
            <a:off x="514350" y="847725"/>
            <a:ext cx="4614774" cy="676751"/>
          </a:xfrm>
          <a:prstGeom prst="rect">
            <a:avLst/>
          </a:prstGeom>
          <a:noFill/>
        </p:spPr>
        <p:txBody>
          <a:bodyPr wrap="none" lIns="0" tIns="0" rIns="0" bIns="0">
            <a:spAutoFit/>
          </a:bodyPr>
          <a:lstStyle/>
          <a:p>
            <a:pPr>
              <a:defRPr sz="3675" b="1">
                <a:solidFill>
                  <a:srgbClr val="FFFFFF"/>
                </a:solidFill>
                <a:latin typeface="DejaVu Sans"/>
              </a:defRPr>
            </a:pPr>
            <a:r>
              <a:t>What we learned</a:t>
            </a:r>
          </a:p>
        </p:txBody>
      </p:sp>
      <p:sp>
        <p:nvSpPr>
          <p:cNvPr id="7" name="TextBox 6"/>
          <p:cNvSpPr txBox="1"/>
          <p:nvPr/>
        </p:nvSpPr>
        <p:spPr>
          <a:xfrm>
            <a:off x="523874" y="2562225"/>
            <a:ext cx="576560" cy="441960"/>
          </a:xfrm>
          <a:prstGeom prst="rect">
            <a:avLst/>
          </a:prstGeom>
          <a:noFill/>
        </p:spPr>
        <p:txBody>
          <a:bodyPr wrap="none" lIns="0" tIns="0" rIns="0" bIns="0">
            <a:spAutoFit/>
          </a:bodyPr>
          <a:lstStyle/>
          <a:p>
            <a:pPr>
              <a:defRPr sz="2400" b="1">
                <a:solidFill>
                  <a:srgbClr val="70D9CD"/>
                </a:solidFill>
                <a:latin typeface="DejaVu Sans"/>
              </a:defRPr>
            </a:pPr>
            <a:r>
              <a:t>01</a:t>
            </a:r>
          </a:p>
        </p:txBody>
      </p:sp>
      <p:sp>
        <p:nvSpPr>
          <p:cNvPr id="8" name="TextBox 7"/>
          <p:cNvSpPr txBox="1"/>
          <p:nvPr/>
        </p:nvSpPr>
        <p:spPr>
          <a:xfrm>
            <a:off x="1257300" y="2562225"/>
            <a:ext cx="4612955" cy="428148"/>
          </a:xfrm>
          <a:prstGeom prst="rect">
            <a:avLst/>
          </a:prstGeom>
          <a:noFill/>
        </p:spPr>
        <p:txBody>
          <a:bodyPr wrap="none" lIns="0" tIns="0" rIns="0" bIns="0">
            <a:spAutoFit/>
          </a:bodyPr>
          <a:lstStyle/>
          <a:p>
            <a:pPr>
              <a:defRPr sz="2325" b="1">
                <a:solidFill>
                  <a:srgbClr val="FFFFFF"/>
                </a:solidFill>
                <a:latin typeface="DejaVu Sans"/>
              </a:defRPr>
            </a:pPr>
            <a:r>
              <a:t>Check data and references</a:t>
            </a:r>
          </a:p>
        </p:txBody>
      </p:sp>
      <p:sp>
        <p:nvSpPr>
          <p:cNvPr id="9" name="TextBox 8"/>
          <p:cNvSpPr txBox="1"/>
          <p:nvPr/>
        </p:nvSpPr>
        <p:spPr>
          <a:xfrm>
            <a:off x="1257300" y="3000375"/>
            <a:ext cx="5846819" cy="345281"/>
          </a:xfrm>
          <a:prstGeom prst="rect">
            <a:avLst/>
          </a:prstGeom>
          <a:noFill/>
        </p:spPr>
        <p:txBody>
          <a:bodyPr wrap="none" lIns="0" tIns="0" rIns="0" bIns="0">
            <a:spAutoFit/>
          </a:bodyPr>
          <a:lstStyle/>
          <a:p>
            <a:pPr>
              <a:defRPr sz="1875" b="0">
                <a:solidFill>
                  <a:srgbClr val="C7DDDF"/>
                </a:solidFill>
                <a:latin typeface="DejaVu Sans"/>
              </a:defRPr>
            </a:pPr>
            <a:r>
              <a:t>Look for repeated inputs and changed answers.</a:t>
            </a:r>
          </a:p>
        </p:txBody>
      </p:sp>
      <p:sp>
        <p:nvSpPr>
          <p:cNvPr id="10" name="TextBox 9"/>
          <p:cNvSpPr txBox="1"/>
          <p:nvPr/>
        </p:nvSpPr>
        <p:spPr>
          <a:xfrm>
            <a:off x="523874" y="3571875"/>
            <a:ext cx="576560" cy="441960"/>
          </a:xfrm>
          <a:prstGeom prst="rect">
            <a:avLst/>
          </a:prstGeom>
          <a:noFill/>
        </p:spPr>
        <p:txBody>
          <a:bodyPr wrap="none" lIns="0" tIns="0" rIns="0" bIns="0">
            <a:spAutoFit/>
          </a:bodyPr>
          <a:lstStyle/>
          <a:p>
            <a:pPr>
              <a:defRPr sz="2400" b="1">
                <a:solidFill>
                  <a:srgbClr val="70D9CD"/>
                </a:solidFill>
                <a:latin typeface="DejaVu Sans"/>
              </a:defRPr>
            </a:pPr>
            <a:r>
              <a:t>02</a:t>
            </a:r>
          </a:p>
        </p:txBody>
      </p:sp>
      <p:sp>
        <p:nvSpPr>
          <p:cNvPr id="11" name="TextBox 10"/>
          <p:cNvSpPr txBox="1"/>
          <p:nvPr/>
        </p:nvSpPr>
        <p:spPr>
          <a:xfrm>
            <a:off x="1257300" y="3571875"/>
            <a:ext cx="3561182" cy="428148"/>
          </a:xfrm>
          <a:prstGeom prst="rect">
            <a:avLst/>
          </a:prstGeom>
          <a:noFill/>
        </p:spPr>
        <p:txBody>
          <a:bodyPr wrap="none" lIns="0" tIns="0" rIns="0" bIns="0">
            <a:spAutoFit/>
          </a:bodyPr>
          <a:lstStyle/>
          <a:p>
            <a:pPr>
              <a:defRPr sz="2325" b="1">
                <a:solidFill>
                  <a:srgbClr val="FFFFFF"/>
                </a:solidFill>
                <a:latin typeface="DejaVu Sans"/>
              </a:defRPr>
            </a:pPr>
            <a:r>
              <a:t>Test on new sources</a:t>
            </a:r>
          </a:p>
        </p:txBody>
      </p:sp>
      <p:sp>
        <p:nvSpPr>
          <p:cNvPr id="12" name="TextBox 11"/>
          <p:cNvSpPr txBox="1"/>
          <p:nvPr/>
        </p:nvSpPr>
        <p:spPr>
          <a:xfrm>
            <a:off x="1257300" y="4010025"/>
            <a:ext cx="6785367" cy="345281"/>
          </a:xfrm>
          <a:prstGeom prst="rect">
            <a:avLst/>
          </a:prstGeom>
          <a:noFill/>
        </p:spPr>
        <p:txBody>
          <a:bodyPr wrap="none" lIns="0" tIns="0" rIns="0" bIns="0">
            <a:spAutoFit/>
          </a:bodyPr>
          <a:lstStyle/>
          <a:p>
            <a:pPr>
              <a:defRPr sz="1875" b="0">
                <a:solidFill>
                  <a:srgbClr val="C7DDDF"/>
                </a:solidFill>
                <a:latin typeface="DejaVu Sans"/>
              </a:defRPr>
            </a:pPr>
            <a:r>
              <a:t>Track corrections, new errors, and unchanged answers.</a:t>
            </a:r>
          </a:p>
        </p:txBody>
      </p:sp>
      <p:sp>
        <p:nvSpPr>
          <p:cNvPr id="13" name="TextBox 12"/>
          <p:cNvSpPr txBox="1"/>
          <p:nvPr/>
        </p:nvSpPr>
        <p:spPr>
          <a:xfrm>
            <a:off x="523874" y="4581525"/>
            <a:ext cx="576560" cy="441960"/>
          </a:xfrm>
          <a:prstGeom prst="rect">
            <a:avLst/>
          </a:prstGeom>
          <a:noFill/>
        </p:spPr>
        <p:txBody>
          <a:bodyPr wrap="none" lIns="0" tIns="0" rIns="0" bIns="0">
            <a:spAutoFit/>
          </a:bodyPr>
          <a:lstStyle/>
          <a:p>
            <a:pPr>
              <a:defRPr sz="2400" b="1">
                <a:solidFill>
                  <a:srgbClr val="70D9CD"/>
                </a:solidFill>
                <a:latin typeface="DejaVu Sans"/>
              </a:defRPr>
            </a:pPr>
            <a:r>
              <a:t>03</a:t>
            </a:r>
          </a:p>
        </p:txBody>
      </p:sp>
      <p:sp>
        <p:nvSpPr>
          <p:cNvPr id="14" name="TextBox 13"/>
          <p:cNvSpPr txBox="1"/>
          <p:nvPr/>
        </p:nvSpPr>
        <p:spPr>
          <a:xfrm>
            <a:off x="1257300" y="4581525"/>
            <a:ext cx="4224686" cy="428148"/>
          </a:xfrm>
          <a:prstGeom prst="rect">
            <a:avLst/>
          </a:prstGeom>
          <a:noFill/>
        </p:spPr>
        <p:txBody>
          <a:bodyPr wrap="none" lIns="0" tIns="0" rIns="0" bIns="0">
            <a:spAutoFit/>
          </a:bodyPr>
          <a:lstStyle/>
          <a:p>
            <a:pPr>
              <a:defRPr sz="2325" b="1">
                <a:solidFill>
                  <a:srgbClr val="FFFFFF"/>
                </a:solidFill>
                <a:latin typeface="DejaVu Sans"/>
              </a:defRPr>
            </a:pPr>
            <a:r>
              <a:t>Keep failed experiments</a:t>
            </a:r>
          </a:p>
        </p:txBody>
      </p:sp>
      <p:sp>
        <p:nvSpPr>
          <p:cNvPr id="15" name="TextBox 14"/>
          <p:cNvSpPr txBox="1"/>
          <p:nvPr/>
        </p:nvSpPr>
        <p:spPr>
          <a:xfrm>
            <a:off x="1257300" y="5019675"/>
            <a:ext cx="5615671" cy="345281"/>
          </a:xfrm>
          <a:prstGeom prst="rect">
            <a:avLst/>
          </a:prstGeom>
          <a:noFill/>
        </p:spPr>
        <p:txBody>
          <a:bodyPr wrap="none" lIns="0" tIns="0" rIns="0" bIns="0">
            <a:spAutoFit/>
          </a:bodyPr>
          <a:lstStyle/>
          <a:p>
            <a:pPr>
              <a:defRPr sz="1875" b="0">
                <a:solidFill>
                  <a:srgbClr val="C7DDDF"/>
                </a:solidFill>
                <a:latin typeface="DejaVu Sans"/>
              </a:defRPr>
            </a:pPr>
            <a:r>
              <a:t>Use validation results to decide what to keep.</a:t>
            </a:r>
          </a:p>
        </p:txBody>
      </p:sp>
      <p:sp>
        <p:nvSpPr>
          <p:cNvPr id="16" name="TextBox 15"/>
          <p:cNvSpPr txBox="1"/>
          <p:nvPr/>
        </p:nvSpPr>
        <p:spPr>
          <a:xfrm>
            <a:off x="514350" y="5762625"/>
            <a:ext cx="6315084" cy="290036"/>
          </a:xfrm>
          <a:prstGeom prst="rect">
            <a:avLst/>
          </a:prstGeom>
          <a:noFill/>
        </p:spPr>
        <p:txBody>
          <a:bodyPr wrap="none" lIns="0" tIns="0" rIns="0" bIns="0">
            <a:spAutoFit/>
          </a:bodyPr>
          <a:lstStyle/>
          <a:p>
            <a:pPr>
              <a:defRPr sz="1575" b="0">
                <a:solidFill>
                  <a:srgbClr val="B6CFD6"/>
                </a:solidFill>
                <a:latin typeface="DejaVu Sans"/>
              </a:defRPr>
            </a:pPr>
            <a:r>
              <a:t>The final benchmark left the broader model work unresolved.</a:t>
            </a:r>
          </a:p>
        </p:txBody>
      </p:sp>
      <p:sp>
        <p:nvSpPr>
          <p:cNvPr id="17" name="TextBox 16"/>
          <p:cNvSpPr txBox="1"/>
          <p:nvPr/>
        </p:nvSpPr>
        <p:spPr>
          <a:xfrm>
            <a:off x="514350" y="6143625"/>
            <a:ext cx="5938865" cy="303847"/>
          </a:xfrm>
          <a:prstGeom prst="rect">
            <a:avLst/>
          </a:prstGeom>
          <a:noFill/>
        </p:spPr>
        <p:txBody>
          <a:bodyPr wrap="none" lIns="0" tIns="0" rIns="0" bIns="0">
            <a:spAutoFit/>
          </a:bodyPr>
          <a:lstStyle/>
          <a:p>
            <a:pPr>
              <a:defRPr sz="1650" b="1">
                <a:solidFill>
                  <a:srgbClr val="FFFFFF"/>
                </a:solidFill>
                <a:latin typeface="DejaVu Sans"/>
              </a:defRPr>
            </a:pPr>
            <a:r>
              <a:t>Gautier Marti · Khaled AlNuaimi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ADML at the FinEval 2026: Version-Aware Retrieval and Grounded Sparse Editing for Multilingual Financial QA</dc:title>
  <dc:subject/>
  <dc:creator>Gautier Marti; Khaled AlNuaimi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